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5120000" cy="106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37" autoAdjust="0"/>
    <p:restoredTop sz="94660"/>
  </p:normalViewPr>
  <p:slideViewPr>
    <p:cSldViewPr snapToGrid="0" snapToObjects="1">
      <p:cViewPr>
        <p:scale>
          <a:sx n="33" d="100"/>
          <a:sy n="33" d="100"/>
        </p:scale>
        <p:origin x="-3536" y="8"/>
      </p:cViewPr>
      <p:guideLst>
        <p:guide orient="horz" pos="214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Frontend</c:v>
                </c:pt>
              </c:strCache>
            </c:strRef>
          </c:tx>
          <c:spPr>
            <a:ln w="44450">
              <a:solidFill>
                <a:srgbClr val="B51F24"/>
              </a:solidFill>
            </a:ln>
          </c:spPr>
          <c:marker>
            <c:symbol val="circle"/>
            <c:size val="8"/>
            <c:spPr>
              <a:solidFill>
                <a:srgbClr val="B51F24"/>
              </a:solidFill>
              <a:ln>
                <a:solidFill>
                  <a:srgbClr val="B51F24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Initial</c:v>
                </c:pt>
                <c:pt idx="1">
                  <c:v>R1</c:v>
                </c:pt>
                <c:pt idx="2">
                  <c:v>R2</c:v>
                </c:pt>
                <c:pt idx="3">
                  <c:v>R3</c:v>
                </c:pt>
                <c:pt idx="4">
                  <c:v>R4</c:v>
                </c:pt>
                <c:pt idx="5">
                  <c:v>R5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55.5</c:v>
                </c:pt>
                <c:pt idx="1">
                  <c:v>67.400000000000006</c:v>
                </c:pt>
                <c:pt idx="2">
                  <c:v>68.599999999999994</c:v>
                </c:pt>
                <c:pt idx="3">
                  <c:v>67.400000000000006</c:v>
                </c:pt>
                <c:pt idx="4">
                  <c:v>68.5</c:v>
                </c:pt>
                <c:pt idx="5">
                  <c:v>67.599999999999994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7FB-4FD2-BFCD-CB2A6C6B38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Backend</c:v>
                </c:pt>
              </c:strCache>
            </c:strRef>
          </c:tx>
          <c:spPr>
            <a:ln w="44450">
              <a:solidFill>
                <a:srgbClr val="262626"/>
              </a:solidFill>
            </a:ln>
          </c:spPr>
          <c:marker>
            <c:symbol val="circle"/>
            <c:size val="8"/>
            <c:spPr>
              <a:solidFill>
                <a:srgbClr val="262626"/>
              </a:solidFill>
              <a:ln>
                <a:solidFill>
                  <a:srgbClr val="262626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Initial</c:v>
                </c:pt>
                <c:pt idx="1">
                  <c:v>R1</c:v>
                </c:pt>
                <c:pt idx="2">
                  <c:v>R2</c:v>
                </c:pt>
                <c:pt idx="3">
                  <c:v>R3</c:v>
                </c:pt>
                <c:pt idx="4">
                  <c:v>R4</c:v>
                </c:pt>
                <c:pt idx="5">
                  <c:v>R5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57.6</c:v>
                </c:pt>
                <c:pt idx="1">
                  <c:v>62.7</c:v>
                </c:pt>
                <c:pt idx="2">
                  <c:v>66.7</c:v>
                </c:pt>
                <c:pt idx="3">
                  <c:v>69.3</c:v>
                </c:pt>
                <c:pt idx="4">
                  <c:v>69.599999999999994</c:v>
                </c:pt>
                <c:pt idx="5">
                  <c:v>69.5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7FB-4FD2-BFCD-CB2A6C6B38B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Data Analyst</c:v>
                </c:pt>
              </c:strCache>
            </c:strRef>
          </c:tx>
          <c:spPr>
            <a:ln w="44450">
              <a:solidFill>
                <a:srgbClr val="E8868A"/>
              </a:solidFill>
            </a:ln>
          </c:spPr>
          <c:marker>
            <c:symbol val="circle"/>
            <c:size val="8"/>
            <c:spPr>
              <a:solidFill>
                <a:srgbClr val="E8868A"/>
              </a:solidFill>
              <a:ln>
                <a:solidFill>
                  <a:srgbClr val="E8868A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Initial</c:v>
                </c:pt>
                <c:pt idx="1">
                  <c:v>R1</c:v>
                </c:pt>
                <c:pt idx="2">
                  <c:v>R2</c:v>
                </c:pt>
                <c:pt idx="3">
                  <c:v>R3</c:v>
                </c:pt>
                <c:pt idx="4">
                  <c:v>R4</c:v>
                </c:pt>
                <c:pt idx="5">
                  <c:v>R5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61.8</c:v>
                </c:pt>
                <c:pt idx="1">
                  <c:v>66.8</c:v>
                </c:pt>
                <c:pt idx="2">
                  <c:v>67.7</c:v>
                </c:pt>
                <c:pt idx="3">
                  <c:v>68.7</c:v>
                </c:pt>
                <c:pt idx="4">
                  <c:v>66.2</c:v>
                </c:pt>
                <c:pt idx="5">
                  <c:v>68.2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7FB-4FD2-BFCD-CB2A6C6B38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787878"/>
            </a:solidFill>
          </a:ln>
        </c:spPr>
        <c:txPr>
          <a:bodyPr/>
          <a:lstStyle/>
          <a:p>
            <a:pPr>
              <a:defRPr sz="14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75"/>
          <c:min val="50"/>
        </c:scaling>
        <c:delete val="0"/>
        <c:axPos val="l"/>
        <c:majorGridlines>
          <c:spPr>
            <a:ln>
              <a:solidFill>
                <a:srgbClr val="E6E6E6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/>
            </a:pPr>
            <a:endParaRPr lang="en-US"/>
          </a:p>
        </c:txPr>
        <c:crossAx val="2118791784"/>
        <c:crosses val="autoZero"/>
        <c:crossBetween val="between"/>
        <c:majorUnit val="5"/>
      </c:valAx>
    </c:plotArea>
    <c:legend>
      <c:legendPos val="b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400">
          <a:solidFill>
            <a:srgbClr val="2626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Frontend</c:v>
                </c:pt>
              </c:strCache>
            </c:strRef>
          </c:tx>
          <c:spPr>
            <a:solidFill>
              <a:srgbClr val="B51F24"/>
            </a:solidFill>
          </c:spPr>
          <c:invertIfNegative val="1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Resource relevance</c:v>
                </c:pt>
                <c:pt idx="1">
                  <c:v>Weakness retries</c:v>
                </c:pt>
                <c:pt idx="2">
                  <c:v>Follow-up grounding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100</c:v>
                </c:pt>
                <c:pt idx="2">
                  <c:v>72.3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B8D-495E-93D7-0A25DC7DAC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Backend</c:v>
                </c:pt>
              </c:strCache>
            </c:strRef>
          </c:tx>
          <c:spPr>
            <a:solidFill>
              <a:srgbClr val="262626"/>
            </a:solidFill>
          </c:spPr>
          <c:invertIfNegative val="1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Resource relevance</c:v>
                </c:pt>
                <c:pt idx="1">
                  <c:v>Weakness retries</c:v>
                </c:pt>
                <c:pt idx="2">
                  <c:v>Follow-up grounding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80.599999999999994</c:v>
                </c:pt>
                <c:pt idx="1">
                  <c:v>85.7</c:v>
                </c:pt>
                <c:pt idx="2">
                  <c:v>96.7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4B8D-495E-93D7-0A25DC7DAC1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Data Analyst</c:v>
                </c:pt>
              </c:strCache>
            </c:strRef>
          </c:tx>
          <c:spPr>
            <a:solidFill>
              <a:srgbClr val="E8868A"/>
            </a:solidFill>
          </c:spPr>
          <c:invertIfNegative val="1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Resource relevance</c:v>
                </c:pt>
                <c:pt idx="1">
                  <c:v>Weakness retries</c:v>
                </c:pt>
                <c:pt idx="2">
                  <c:v>Follow-up grounding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79.2</c:v>
                </c:pt>
                <c:pt idx="1">
                  <c:v>100</c:v>
                </c:pt>
                <c:pt idx="2">
                  <c:v>75.8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4B8D-495E-93D7-0A25DC7DAC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-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787878"/>
            </a:solidFill>
          </a:ln>
        </c:spPr>
        <c:txPr>
          <a:bodyPr/>
          <a:lstStyle/>
          <a:p>
            <a:pPr>
              <a:defRPr sz="14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8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400">
          <a:solidFill>
            <a:srgbClr val="2626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43200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37920" y="205920"/>
            <a:ext cx="13844160" cy="1801800"/>
          </a:xfrm>
          <a:prstGeom prst="roundRect">
            <a:avLst/>
          </a:prstGeom>
          <a:solidFill>
            <a:srgbClr val="B5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8400" y="1393920"/>
            <a:ext cx="2059200" cy="594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780" b="0">
                <a:solidFill>
                  <a:srgbClr val="FFFFFF"/>
                </a:solidFill>
                <a:latin typeface="Arial" panose="020B0604020202020204"/>
              </a:defRPr>
            </a:pPr>
            <a:r>
              <a:rPr sz="1126"/>
              <a:t>Presented by:</a:t>
            </a:r>
            <a:br>
              <a:rPr sz="1299"/>
            </a:br>
            <a:r>
              <a:rPr sz="1126"/>
              <a:t>1. </a:t>
            </a:r>
            <a:r>
              <a:rPr lang="en-IN" sz="1126"/>
              <a:t>Nishigandha Patil</a:t>
            </a:r>
            <a:br>
              <a:rPr sz="1299"/>
            </a:br>
            <a:r>
              <a:rPr sz="1126"/>
              <a:t>2. </a:t>
            </a:r>
            <a:r>
              <a:rPr lang="en-IN" sz="1126"/>
              <a:t>Shipra Rode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8000" y="285120"/>
            <a:ext cx="9504000" cy="4554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732" b="1">
                <a:solidFill>
                  <a:srgbClr val="FFFFFF"/>
                </a:solidFill>
                <a:latin typeface="Arial" panose="020B0604020202020204"/>
              </a:defRPr>
            </a:pPr>
            <a:r>
              <a:rPr lang="en-IN" sz="3118" b="1" dirty="0"/>
              <a:t>INTERVISTA</a:t>
            </a:r>
            <a:endParaRPr sz="2339" dirty="0"/>
          </a:p>
        </p:txBody>
      </p:sp>
      <p:sp>
        <p:nvSpPr>
          <p:cNvPr id="7" name="TextBox 6"/>
          <p:cNvSpPr txBox="1"/>
          <p:nvPr/>
        </p:nvSpPr>
        <p:spPr>
          <a:xfrm>
            <a:off x="1857600" y="792000"/>
            <a:ext cx="11404800" cy="11484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>
              <a:defRPr sz="1169" b="1">
                <a:solidFill>
                  <a:srgbClr val="FFFFFF"/>
                </a:solidFill>
                <a:latin typeface="Arial" panose="020B0604020202020204"/>
              </a:defRPr>
            </a:pPr>
            <a:r>
              <a:rPr sz="1299" b="1" dirty="0">
                <a:solidFill>
                  <a:srgbClr val="FFFFFF"/>
                </a:solidFill>
                <a:latin typeface="Arial"/>
              </a:rPr>
              <a:t>An AI-Powered Closed-Loop Framework for Adaptive Interview Preparation and Performance Improvement</a:t>
            </a:r>
            <a:endParaRPr lang="en-US" sz="1516" dirty="0"/>
          </a:p>
          <a:p>
            <a:pPr algn="ctr">
              <a:spcBef>
                <a:spcPts val="1400"/>
              </a:spcBef>
            </a:pPr>
            <a:endParaRPr lang="en-US" sz="1299" b="1" dirty="0">
              <a:solidFill>
                <a:srgbClr val="FFFFFF"/>
              </a:solidFill>
              <a:latin typeface="Arial"/>
            </a:endParaRPr>
          </a:p>
          <a:p>
            <a:pPr algn="ctr">
              <a:spcBef>
                <a:spcPts val="1400"/>
              </a:spcBef>
            </a:pPr>
            <a:r>
              <a:rPr sz="1299" b="1" dirty="0">
                <a:solidFill>
                  <a:srgbClr val="FFFFFF"/>
                </a:solidFill>
                <a:latin typeface="Arial"/>
              </a:rPr>
              <a:t>Computer Engineering Department</a:t>
            </a:r>
          </a:p>
          <a:p>
            <a:pPr algn="ctr"/>
            <a:r>
              <a:rPr sz="1299" b="1" dirty="0">
                <a:solidFill>
                  <a:srgbClr val="FFFFFF"/>
                </a:solidFill>
                <a:latin typeface="Arial"/>
              </a:rPr>
              <a:t>Usha Mittal Institute of Technology, </a:t>
            </a:r>
            <a:endParaRPr lang="en-US" sz="1299" b="1" dirty="0">
              <a:solidFill>
                <a:srgbClr val="FFFFFF"/>
              </a:solidFill>
              <a:latin typeface="Arial"/>
            </a:endParaRPr>
          </a:p>
          <a:p>
            <a:pPr algn="ctr"/>
            <a:r>
              <a:rPr sz="1299" b="1" dirty="0">
                <a:solidFill>
                  <a:srgbClr val="FFFFFF"/>
                </a:solidFill>
                <a:latin typeface="Arial"/>
              </a:rPr>
              <a:t>S.N.D.T. Women’s University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920" y="2158200"/>
            <a:ext cx="4469520" cy="245520"/>
          </a:xfrm>
          <a:prstGeom prst="roundRect">
            <a:avLst/>
          </a:prstGeom>
          <a:solidFill>
            <a:srgbClr val="C92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866" b="0">
                <a:solidFill>
                  <a:srgbClr val="FFFFFF"/>
                </a:solidFill>
                <a:latin typeface="Georgia" panose="02040502050405020303"/>
              </a:defRPr>
            </a:pPr>
            <a:r>
              <a:rPr sz="1039">
                <a:solidFill>
                  <a:srgbClr val="FFFFFF"/>
                </a:solidFill>
                <a:latin typeface="Georgia"/>
              </a:rPr>
              <a:t>Abstract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7920" y="4336200"/>
            <a:ext cx="4469520" cy="245520"/>
          </a:xfrm>
          <a:prstGeom prst="roundRect">
            <a:avLst/>
          </a:prstGeom>
          <a:solidFill>
            <a:srgbClr val="C92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866" b="0">
                <a:solidFill>
                  <a:srgbClr val="FFFFFF"/>
                </a:solidFill>
                <a:latin typeface="Georgia" panose="02040502050405020303"/>
              </a:defRPr>
            </a:pPr>
            <a:r>
              <a:rPr sz="1039" dirty="0">
                <a:solidFill>
                  <a:srgbClr val="FFFFFF"/>
                </a:solidFill>
                <a:latin typeface="Georgia"/>
              </a:rPr>
              <a:t>Introduction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7920" y="7900200"/>
            <a:ext cx="4469520" cy="245520"/>
          </a:xfrm>
          <a:prstGeom prst="roundRect">
            <a:avLst/>
          </a:prstGeom>
          <a:solidFill>
            <a:srgbClr val="C92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866" b="0">
                <a:solidFill>
                  <a:srgbClr val="FFFFFF"/>
                </a:solidFill>
                <a:latin typeface="Georgia" panose="02040502050405020303"/>
              </a:defRPr>
            </a:pPr>
            <a:r>
              <a:rPr lang="en-US" sz="1039" dirty="0">
                <a:solidFill>
                  <a:srgbClr val="FFFFFF"/>
                </a:solidFill>
                <a:latin typeface="Georgia"/>
              </a:rPr>
              <a:t>Literature Survey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5326560" y="2158200"/>
            <a:ext cx="4469520" cy="245520"/>
          </a:xfrm>
          <a:prstGeom prst="roundRect">
            <a:avLst/>
          </a:prstGeom>
          <a:solidFill>
            <a:srgbClr val="C92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866" b="0">
                <a:solidFill>
                  <a:srgbClr val="FFFFFF"/>
                </a:solidFill>
                <a:latin typeface="Georgia" panose="02040502050405020303"/>
              </a:defRPr>
            </a:pPr>
            <a:r>
              <a:rPr sz="1039">
                <a:solidFill>
                  <a:srgbClr val="FFFFFF"/>
                </a:solidFill>
                <a:latin typeface="Georgia"/>
              </a:rPr>
              <a:t>Implementation / Simulation Result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11240" y="2158200"/>
            <a:ext cx="4469520" cy="245520"/>
          </a:xfrm>
          <a:prstGeom prst="roundRect">
            <a:avLst/>
          </a:prstGeom>
          <a:solidFill>
            <a:srgbClr val="C92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866" b="0">
                <a:solidFill>
                  <a:srgbClr val="FFFFFF"/>
                </a:solidFill>
                <a:latin typeface="Georgia" panose="02040502050405020303"/>
              </a:defRPr>
            </a:pPr>
            <a:r>
              <a:rPr lang="en-US" sz="1039" dirty="0">
                <a:solidFill>
                  <a:srgbClr val="FFFFFF"/>
                </a:solidFill>
                <a:latin typeface="Georgia"/>
              </a:rPr>
              <a:t>Results</a:t>
            </a:r>
            <a:endParaRPr sz="1039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0011240" y="6355800"/>
            <a:ext cx="4469520" cy="245520"/>
          </a:xfrm>
          <a:prstGeom prst="roundRect">
            <a:avLst/>
          </a:prstGeom>
          <a:solidFill>
            <a:srgbClr val="C92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866" b="0">
                <a:solidFill>
                  <a:srgbClr val="FFFFFF"/>
                </a:solidFill>
                <a:latin typeface="Georgia" panose="02040502050405020303"/>
              </a:defRPr>
            </a:pPr>
            <a:r>
              <a:rPr sz="1039">
                <a:solidFill>
                  <a:srgbClr val="FFFFFF"/>
                </a:solidFill>
                <a:latin typeface="Georgia"/>
              </a:rPr>
              <a:t>Conclusion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1240" y="8355600"/>
            <a:ext cx="4469520" cy="245520"/>
          </a:xfrm>
          <a:prstGeom prst="roundRect">
            <a:avLst/>
          </a:prstGeom>
          <a:solidFill>
            <a:srgbClr val="C92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866" b="0">
                <a:solidFill>
                  <a:srgbClr val="FFFFFF"/>
                </a:solidFill>
                <a:latin typeface="Georgia" panose="02040502050405020303"/>
              </a:defRPr>
            </a:pPr>
            <a:r>
              <a:rPr sz="1039">
                <a:solidFill>
                  <a:srgbClr val="FFFFFF"/>
                </a:solidFill>
                <a:latin typeface="Georgia"/>
              </a:rPr>
              <a:t>References</a:t>
            </a:r>
          </a:p>
        </p:txBody>
      </p:sp>
      <p:pic>
        <p:nvPicPr>
          <p:cNvPr id="26" name="Picture 25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450" y="143550"/>
            <a:ext cx="1402775" cy="12617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37920" y="2455200"/>
            <a:ext cx="4470840" cy="1680331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marL="285750" indent="-285750">
              <a:spcAft>
                <a:spcPts val="700"/>
              </a:spcAft>
              <a:buClr>
                <a:srgbClr val="B51F24"/>
              </a:buClr>
              <a:buFont typeface="Arial"/>
              <a:buChar char="•"/>
            </a:pPr>
            <a:r>
              <a:rPr sz="953" b="1" dirty="0">
                <a:solidFill>
                  <a:srgbClr val="B51F24"/>
                </a:solidFill>
                <a:latin typeface="Arial"/>
              </a:rPr>
              <a:t>Problem: </a:t>
            </a:r>
            <a:r>
              <a:rPr sz="953" b="0" dirty="0">
                <a:solidFill>
                  <a:srgbClr val="262626"/>
                </a:solidFill>
                <a:latin typeface="Arial"/>
              </a:rPr>
              <a:t>Interview preparation is scattered across question banks, coding sites and mock interviews, so candidates rarely know</a:t>
            </a:r>
            <a:r>
              <a:rPr lang="en-US" sz="953" b="0" dirty="0">
                <a:solidFill>
                  <a:srgbClr val="262626"/>
                </a:solidFill>
                <a:latin typeface="Arial"/>
              </a:rPr>
              <a:t>s</a:t>
            </a:r>
            <a:r>
              <a:rPr sz="953" b="0" dirty="0">
                <a:solidFill>
                  <a:srgbClr val="262626"/>
                </a:solidFill>
                <a:latin typeface="Arial"/>
              </a:rPr>
              <a:t> what to </a:t>
            </a:r>
            <a:r>
              <a:rPr sz="953" b="0" dirty="0" err="1">
                <a:solidFill>
                  <a:srgbClr val="262626"/>
                </a:solidFill>
                <a:latin typeface="Arial"/>
              </a:rPr>
              <a:t>practise</a:t>
            </a:r>
            <a:r>
              <a:rPr sz="953" b="0" dirty="0">
                <a:solidFill>
                  <a:srgbClr val="262626"/>
                </a:solidFill>
                <a:latin typeface="Arial"/>
              </a:rPr>
              <a:t> next.</a:t>
            </a:r>
          </a:p>
          <a:p>
            <a:pPr marL="285750" indent="-285750">
              <a:spcAft>
                <a:spcPts val="700"/>
              </a:spcAft>
              <a:buClr>
                <a:srgbClr val="B51F24"/>
              </a:buClr>
              <a:buFont typeface="Arial"/>
              <a:buChar char="•"/>
            </a:pPr>
            <a:r>
              <a:rPr sz="953" b="1" dirty="0">
                <a:solidFill>
                  <a:srgbClr val="B51F24"/>
                </a:solidFill>
                <a:latin typeface="Arial"/>
              </a:rPr>
              <a:t>Solution</a:t>
            </a:r>
            <a:r>
              <a:rPr lang="en-US" sz="953" b="1" dirty="0">
                <a:solidFill>
                  <a:srgbClr val="B51F24"/>
                </a:solidFill>
                <a:latin typeface="Arial"/>
              </a:rPr>
              <a:t>: </a:t>
            </a:r>
            <a:r>
              <a:rPr lang="en-US" sz="953" dirty="0">
                <a:latin typeface="Arial" panose="020B0604020202020204" pitchFamily="34" charset="0"/>
                <a:cs typeface="Arial" panose="020B0604020202020204" pitchFamily="34" charset="0"/>
              </a:rPr>
              <a:t>INTERVISTA connects assessment, weakness identification, targeted practice, learning resources, and reassessment.</a:t>
            </a:r>
          </a:p>
          <a:p>
            <a:pPr marL="285750" indent="-285750">
              <a:spcAft>
                <a:spcPts val="700"/>
              </a:spcAft>
              <a:buClr>
                <a:srgbClr val="B51F24"/>
              </a:buClr>
              <a:buFont typeface="Arial"/>
              <a:buChar char="•"/>
            </a:pPr>
            <a:r>
              <a:rPr sz="953" b="1" dirty="0">
                <a:solidFill>
                  <a:srgbClr val="B51F24"/>
                </a:solidFill>
                <a:latin typeface="Arial"/>
              </a:rPr>
              <a:t>Technology: </a:t>
            </a:r>
            <a:r>
              <a:rPr sz="953" b="0" dirty="0">
                <a:solidFill>
                  <a:srgbClr val="262626"/>
                </a:solidFill>
                <a:latin typeface="Arial"/>
              </a:rPr>
              <a:t>LLMs, RAG, Whisper speech recognition, persistent skill profiles and a contextual bandit.</a:t>
            </a:r>
          </a:p>
          <a:p>
            <a:pPr marL="285750" indent="-285750">
              <a:spcAft>
                <a:spcPts val="700"/>
              </a:spcAft>
              <a:buClr>
                <a:srgbClr val="B51F24"/>
              </a:buClr>
              <a:buFont typeface="Arial"/>
              <a:buChar char="•"/>
            </a:pPr>
            <a:r>
              <a:rPr sz="953" b="1" dirty="0">
                <a:solidFill>
                  <a:srgbClr val="B51F24"/>
                </a:solidFill>
                <a:latin typeface="Arial"/>
              </a:rPr>
              <a:t>Modules: </a:t>
            </a:r>
            <a:r>
              <a:rPr sz="953" b="0" dirty="0">
                <a:solidFill>
                  <a:srgbClr val="262626"/>
                </a:solidFill>
                <a:latin typeface="Arial"/>
              </a:rPr>
              <a:t>Online assessment, coding, technical and HR interviews, placement simulation, group discussion.</a:t>
            </a:r>
          </a:p>
          <a:p>
            <a:pPr marL="285750" indent="-285750">
              <a:spcAft>
                <a:spcPts val="700"/>
              </a:spcAft>
              <a:buClr>
                <a:srgbClr val="B51F24"/>
              </a:buClr>
              <a:buFont typeface="Arial"/>
              <a:buChar char="•"/>
            </a:pPr>
            <a:r>
              <a:rPr sz="953" b="1" dirty="0">
                <a:solidFill>
                  <a:srgbClr val="B51F24"/>
                </a:solidFill>
                <a:latin typeface="Arial"/>
              </a:rPr>
              <a:t>Results: </a:t>
            </a:r>
            <a:r>
              <a:rPr sz="953" b="0" dirty="0">
                <a:solidFill>
                  <a:srgbClr val="262626"/>
                </a:solidFill>
                <a:latin typeface="Arial"/>
              </a:rPr>
              <a:t>17.6% average score gain, 81.6% grounded follow-ups, 95.2% weakness-focused retries, 76.6% relevant resources.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920" y="4653000"/>
            <a:ext cx="4470840" cy="7524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marL="285750" indent="-285750">
              <a:spcAft>
                <a:spcPts val="400"/>
              </a:spcAft>
              <a:buClr>
                <a:srgbClr val="B51F24"/>
              </a:buClr>
              <a:buFont typeface="Arial"/>
              <a:buChar char="•"/>
            </a:pPr>
            <a:r>
              <a:rPr sz="953" b="1" dirty="0">
                <a:solidFill>
                  <a:srgbClr val="B51F24"/>
                </a:solidFill>
                <a:latin typeface="Arial"/>
              </a:rPr>
              <a:t>Challenge: </a:t>
            </a:r>
            <a:r>
              <a:rPr sz="953" b="0" dirty="0">
                <a:solidFill>
                  <a:srgbClr val="262626"/>
                </a:solidFill>
                <a:latin typeface="Arial"/>
              </a:rPr>
              <a:t>Technical knowledge, coding, problem-solving and communication are </a:t>
            </a:r>
            <a:r>
              <a:rPr sz="953" b="0" dirty="0" err="1">
                <a:solidFill>
                  <a:srgbClr val="262626"/>
                </a:solidFill>
                <a:latin typeface="Arial"/>
              </a:rPr>
              <a:t>practised</a:t>
            </a:r>
            <a:r>
              <a:rPr sz="953" b="0" dirty="0">
                <a:solidFill>
                  <a:srgbClr val="262626"/>
                </a:solidFill>
                <a:latin typeface="Arial"/>
              </a:rPr>
              <a:t> on separate platforms, with no link between feedback and next steps.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rcRect t="17000" b="14000"/>
          <a:stretch>
            <a:fillRect/>
          </a:stretch>
        </p:blipFill>
        <p:spPr>
          <a:xfrm>
            <a:off x="776520" y="5099189"/>
            <a:ext cx="4197600" cy="112427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37920" y="6201360"/>
            <a:ext cx="4470840" cy="765079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953" b="1" dirty="0">
                <a:solidFill>
                  <a:srgbClr val="C00000"/>
                </a:solidFill>
                <a:latin typeface="Arial" panose="020B0604020202020204" pitchFamily="34" charset="0"/>
              </a:rPr>
              <a:t>Proposed Approach</a:t>
            </a:r>
            <a:r>
              <a:rPr lang="en-US" altLang="en-US" sz="953" dirty="0">
                <a:latin typeface="Arial" panose="020B0604020202020204" pitchFamily="34" charset="0"/>
              </a:rPr>
              <a:t>: INTERVISTA integrates assessment, weakness identification, targeted learning resources, and repeated practice in one AI-powered platform.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953" b="1" dirty="0">
                <a:solidFill>
                  <a:srgbClr val="C00000"/>
                </a:solidFill>
                <a:latin typeface="Arial" panose="020B0604020202020204" pitchFamily="34" charset="0"/>
              </a:rPr>
              <a:t>Objective</a:t>
            </a:r>
            <a:r>
              <a:rPr lang="en-US" altLang="en-US" sz="953" dirty="0">
                <a:solidFill>
                  <a:srgbClr val="C00000"/>
                </a:solidFill>
                <a:latin typeface="Arial" panose="020B0604020202020204" pitchFamily="34" charset="0"/>
              </a:rPr>
              <a:t>:</a:t>
            </a:r>
            <a:r>
              <a:rPr lang="en-US" altLang="en-US" sz="953" dirty="0">
                <a:latin typeface="Arial" panose="020B0604020202020204" pitchFamily="34" charset="0"/>
              </a:rPr>
              <a:t> Help candidates identify what to improve and determine what to </a:t>
            </a:r>
            <a:r>
              <a:rPr lang="en-US" altLang="en-US" sz="953" dirty="0" err="1">
                <a:latin typeface="Arial" panose="020B0604020202020204" pitchFamily="34" charset="0"/>
              </a:rPr>
              <a:t>practise</a:t>
            </a:r>
            <a:r>
              <a:rPr lang="en-US" altLang="en-US" sz="953" dirty="0">
                <a:latin typeface="Arial" panose="020B0604020202020204" pitchFamily="34" charset="0"/>
              </a:rPr>
              <a:t> next.</a:t>
            </a:r>
            <a:endParaRPr sz="953" b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7720" y="6989400"/>
            <a:ext cx="4470840" cy="198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3" b="1">
                <a:solidFill>
                  <a:srgbClr val="B51F24"/>
                </a:solidFill>
                <a:latin typeface="Arial"/>
              </a:rPr>
              <a:t>INTERVISTA closed loop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5540" y="7227000"/>
            <a:ext cx="752400" cy="376200"/>
          </a:xfrm>
          <a:prstGeom prst="roundRect">
            <a:avLst>
              <a:gd name="adj" fmla="val 25000"/>
            </a:avLst>
          </a:prstGeom>
          <a:solidFill>
            <a:srgbClr val="B5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823" b="1">
                <a:solidFill>
                  <a:srgbClr val="FFFFFF"/>
                </a:solidFill>
                <a:latin typeface="Arial"/>
              </a:rPr>
              <a:t>Assess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1451700" y="7349760"/>
            <a:ext cx="110880" cy="130680"/>
          </a:xfrm>
          <a:prstGeom prst="rightArrow">
            <a:avLst/>
          </a:prstGeom>
          <a:solidFill>
            <a:srgbClr val="C9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586340" y="7227000"/>
            <a:ext cx="752400" cy="376200"/>
          </a:xfrm>
          <a:prstGeom prst="roundRect">
            <a:avLst>
              <a:gd name="adj" fmla="val 25000"/>
            </a:avLst>
          </a:prstGeom>
          <a:solidFill>
            <a:srgbClr val="C9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823" b="1">
                <a:solidFill>
                  <a:srgbClr val="FFFFFF"/>
                </a:solidFill>
                <a:latin typeface="Arial"/>
              </a:rPr>
              <a:t>Diagnose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2362500" y="7349760"/>
            <a:ext cx="110880" cy="130680"/>
          </a:xfrm>
          <a:prstGeom prst="rightArrow">
            <a:avLst/>
          </a:prstGeom>
          <a:solidFill>
            <a:srgbClr val="C9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2497140" y="7227000"/>
            <a:ext cx="752400" cy="376200"/>
          </a:xfrm>
          <a:prstGeom prst="roundRect">
            <a:avLst>
              <a:gd name="adj" fmla="val 25000"/>
            </a:avLst>
          </a:prstGeom>
          <a:solidFill>
            <a:srgbClr val="B5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823" b="1">
                <a:solidFill>
                  <a:srgbClr val="FFFFFF"/>
                </a:solidFill>
                <a:latin typeface="Arial"/>
              </a:rPr>
              <a:t>Adapt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3273300" y="7349760"/>
            <a:ext cx="110880" cy="130680"/>
          </a:xfrm>
          <a:prstGeom prst="rightArrow">
            <a:avLst/>
          </a:prstGeom>
          <a:solidFill>
            <a:srgbClr val="C9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407940" y="7227000"/>
            <a:ext cx="752400" cy="376200"/>
          </a:xfrm>
          <a:prstGeom prst="roundRect">
            <a:avLst>
              <a:gd name="adj" fmla="val 25000"/>
            </a:avLst>
          </a:prstGeom>
          <a:solidFill>
            <a:srgbClr val="C9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823" b="1">
                <a:solidFill>
                  <a:srgbClr val="FFFFFF"/>
                </a:solidFill>
                <a:latin typeface="Arial"/>
              </a:rPr>
              <a:t>Learn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4184100" y="7349760"/>
            <a:ext cx="110880" cy="130680"/>
          </a:xfrm>
          <a:prstGeom prst="rightArrow">
            <a:avLst/>
          </a:prstGeom>
          <a:solidFill>
            <a:srgbClr val="C9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318740" y="7227000"/>
            <a:ext cx="752400" cy="376200"/>
          </a:xfrm>
          <a:prstGeom prst="roundRect">
            <a:avLst>
              <a:gd name="adj" fmla="val 25000"/>
            </a:avLst>
          </a:prstGeom>
          <a:solidFill>
            <a:srgbClr val="B5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823" b="1">
                <a:solidFill>
                  <a:srgbClr val="FFFFFF"/>
                </a:solidFill>
                <a:latin typeface="Arial"/>
              </a:rPr>
              <a:t>Reassess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920" y="7623000"/>
            <a:ext cx="4470840" cy="158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93" b="0" i="1">
                <a:solidFill>
                  <a:srgbClr val="787878"/>
                </a:solidFill>
                <a:latin typeface="Arial"/>
              </a:rPr>
              <a:t>Weaknesses persist in the candidate profile and steer every next attempt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26560" y="2455200"/>
            <a:ext cx="4470840" cy="22968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marL="285750" indent="-285750">
              <a:spcAft>
                <a:spcPts val="600"/>
              </a:spcAft>
              <a:buClr>
                <a:srgbClr val="B51F24"/>
              </a:buClr>
              <a:buFont typeface="Arial"/>
              <a:buChar char="•"/>
            </a:pPr>
            <a:r>
              <a:rPr lang="en-IN" sz="909" b="1" dirty="0">
                <a:solidFill>
                  <a:srgbClr val="B51F24"/>
                </a:solidFill>
                <a:latin typeface="Arial"/>
              </a:rPr>
              <a:t>Profiling: </a:t>
            </a:r>
            <a:r>
              <a:rPr lang="en-IN" sz="909" dirty="0">
                <a:solidFill>
                  <a:srgbClr val="262626"/>
                </a:solidFill>
                <a:latin typeface="Arial"/>
              </a:rPr>
              <a:t>resume, job description, company name and target role give context.</a:t>
            </a:r>
          </a:p>
          <a:p>
            <a:pPr marL="285750" indent="-285750">
              <a:spcAft>
                <a:spcPts val="600"/>
              </a:spcAft>
              <a:buClr>
                <a:srgbClr val="B51F24"/>
              </a:buClr>
              <a:buFont typeface="Arial"/>
              <a:buChar char="•"/>
            </a:pPr>
            <a:r>
              <a:rPr lang="en-IN" sz="909" b="1" dirty="0">
                <a:solidFill>
                  <a:srgbClr val="B51F24"/>
                </a:solidFill>
                <a:latin typeface="Arial"/>
              </a:rPr>
              <a:t>Interview engine: </a:t>
            </a:r>
            <a:r>
              <a:rPr lang="en-IN" sz="909" dirty="0">
                <a:solidFill>
                  <a:srgbClr val="262626"/>
                </a:solidFill>
                <a:latin typeface="Arial"/>
              </a:rPr>
              <a:t>LLM (gpt-oss-120b on </a:t>
            </a:r>
            <a:r>
              <a:rPr lang="en-IN" sz="909" dirty="0" err="1">
                <a:solidFill>
                  <a:srgbClr val="262626"/>
                </a:solidFill>
                <a:latin typeface="Arial"/>
              </a:rPr>
              <a:t>Groq</a:t>
            </a:r>
            <a:r>
              <a:rPr lang="en-IN" sz="909" dirty="0">
                <a:solidFill>
                  <a:srgbClr val="262626"/>
                </a:solidFill>
                <a:latin typeface="Arial"/>
              </a:rPr>
              <a:t>) + RAG (FAISS) generate and validate questions; rules pick follow-ups.</a:t>
            </a:r>
          </a:p>
          <a:p>
            <a:pPr marL="285750" indent="-285750">
              <a:spcAft>
                <a:spcPts val="600"/>
              </a:spcAft>
              <a:buClr>
                <a:srgbClr val="B51F24"/>
              </a:buClr>
              <a:buFont typeface="Arial"/>
              <a:buChar char="•"/>
            </a:pPr>
            <a:r>
              <a:rPr lang="en-IN" sz="909" b="1" dirty="0">
                <a:solidFill>
                  <a:srgbClr val="B51F24"/>
                </a:solidFill>
                <a:latin typeface="Arial"/>
              </a:rPr>
              <a:t>Evaluation: </a:t>
            </a:r>
            <a:r>
              <a:rPr lang="en-IN" sz="909" dirty="0">
                <a:solidFill>
                  <a:srgbClr val="262626"/>
                </a:solidFill>
                <a:latin typeface="Arial"/>
              </a:rPr>
              <a:t>text or voice answers, Whisper transcription, pace, fillers, clarity.</a:t>
            </a:r>
          </a:p>
          <a:p>
            <a:pPr marL="285750" indent="-285750">
              <a:spcAft>
                <a:spcPts val="600"/>
              </a:spcAft>
              <a:buClr>
                <a:srgbClr val="B51F24"/>
              </a:buClr>
              <a:buFont typeface="Arial"/>
              <a:buChar char="•"/>
            </a:pPr>
            <a:r>
              <a:rPr lang="en-IN" sz="909" b="1" dirty="0">
                <a:solidFill>
                  <a:srgbClr val="B51F24"/>
                </a:solidFill>
                <a:latin typeface="Arial"/>
              </a:rPr>
              <a:t>Skill tracking: </a:t>
            </a:r>
            <a:r>
              <a:rPr lang="en-IN" sz="909" dirty="0">
                <a:solidFill>
                  <a:srgbClr val="262626"/>
                </a:solidFill>
                <a:latin typeface="Arial"/>
              </a:rPr>
              <a:t>profile updated after every session.</a:t>
            </a:r>
          </a:p>
          <a:p>
            <a:pPr marL="285750" indent="-285750">
              <a:spcAft>
                <a:spcPts val="600"/>
              </a:spcAft>
              <a:buClr>
                <a:srgbClr val="B51F24"/>
              </a:buClr>
              <a:buFont typeface="Arial"/>
              <a:buChar char="•"/>
            </a:pPr>
            <a:r>
              <a:rPr lang="en-IN" sz="909" b="1" dirty="0">
                <a:solidFill>
                  <a:srgbClr val="B51F24"/>
                </a:solidFill>
                <a:latin typeface="Arial"/>
              </a:rPr>
              <a:t>Adaptive </a:t>
            </a:r>
            <a:r>
              <a:rPr lang="en-IN" sz="909" b="1" dirty="0">
                <a:solidFill>
                  <a:srgbClr val="C00000"/>
                </a:solidFill>
                <a:latin typeface="Arial"/>
              </a:rPr>
              <a:t>learning</a:t>
            </a:r>
            <a:r>
              <a:rPr lang="en-IN" sz="909" b="1" dirty="0">
                <a:solidFill>
                  <a:srgbClr val="B51F24"/>
                </a:solidFill>
                <a:latin typeface="Arial"/>
              </a:rPr>
              <a:t>: </a:t>
            </a:r>
            <a:r>
              <a:rPr lang="en-IN" sz="909" dirty="0">
                <a:solidFill>
                  <a:srgbClr val="262626"/>
                </a:solidFill>
                <a:latin typeface="Arial"/>
              </a:rPr>
              <a:t>Learning Resources ranked from YouTube.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altLang="en-US" sz="909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 &amp; Backend: </a:t>
            </a:r>
            <a:r>
              <a:rPr lang="en-IN" altLang="en-US" sz="909" dirty="0">
                <a:latin typeface="Arial" panose="020B0604020202020204" pitchFamily="34" charset="0"/>
                <a:cs typeface="Arial" panose="020B0604020202020204" pitchFamily="34" charset="0"/>
              </a:rPr>
              <a:t>HTML, CSS, JavaScript, Python, </a:t>
            </a:r>
            <a:r>
              <a:rPr lang="en-IN" altLang="en-US" sz="909" dirty="0" err="1"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endParaRPr lang="en-IN" altLang="en-US" sz="953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altLang="en-US" sz="909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 &amp; AI Services: </a:t>
            </a:r>
            <a:r>
              <a:rPr lang="en-IN" altLang="en-US" sz="909" dirty="0" err="1">
                <a:latin typeface="Arial" panose="020B0604020202020204" pitchFamily="34" charset="0"/>
                <a:cs typeface="Arial" panose="020B0604020202020204" pitchFamily="34" charset="0"/>
              </a:rPr>
              <a:t>Groq</a:t>
            </a:r>
            <a:r>
              <a:rPr lang="en-IN" altLang="en-US" sz="909" dirty="0">
                <a:latin typeface="Arial" panose="020B0604020202020204" pitchFamily="34" charset="0"/>
                <a:cs typeface="Arial" panose="020B0604020202020204" pitchFamily="34" charset="0"/>
              </a:rPr>
              <a:t> API (</a:t>
            </a:r>
            <a:r>
              <a:rPr lang="en-IN" altLang="en-US" sz="909" dirty="0" err="1">
                <a:latin typeface="Arial" panose="020B0604020202020204" pitchFamily="34" charset="0"/>
                <a:cs typeface="Arial" panose="020B0604020202020204" pitchFamily="34" charset="0"/>
              </a:rPr>
              <a:t>openai</a:t>
            </a:r>
            <a:r>
              <a:rPr lang="en-IN" altLang="en-US" sz="909" dirty="0">
                <a:latin typeface="Arial" panose="020B0604020202020204" pitchFamily="34" charset="0"/>
                <a:cs typeface="Arial" panose="020B0604020202020204" pitchFamily="34" charset="0"/>
              </a:rPr>
              <a:t>/gpt-oss-120b), </a:t>
            </a:r>
            <a:r>
              <a:rPr lang="en-IN" altLang="en-US" sz="909" dirty="0" err="1">
                <a:latin typeface="Arial" panose="020B0604020202020204" pitchFamily="34" charset="0"/>
                <a:cs typeface="Arial" panose="020B0604020202020204" pitchFamily="34" charset="0"/>
              </a:rPr>
              <a:t>OpenRouter</a:t>
            </a:r>
            <a:r>
              <a:rPr lang="en-IN" altLang="en-US" sz="909" dirty="0">
                <a:latin typeface="Arial" panose="020B0604020202020204" pitchFamily="34" charset="0"/>
                <a:cs typeface="Arial" panose="020B0604020202020204" pitchFamily="34" charset="0"/>
              </a:rPr>
              <a:t> API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altLang="en-US" sz="909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RAG &amp; Vector Search: </a:t>
            </a:r>
            <a:r>
              <a:rPr lang="en-IN" altLang="en-US" sz="909" dirty="0">
                <a:latin typeface="Arial" panose="020B0604020202020204" pitchFamily="34" charset="0"/>
                <a:cs typeface="Arial" panose="020B0604020202020204" pitchFamily="34" charset="0"/>
              </a:rPr>
              <a:t>Sentence Transformers (all-MiniLM-L6-v2), FAISS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altLang="en-US" sz="909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&amp; ORM: </a:t>
            </a:r>
            <a:r>
              <a:rPr lang="en-IN" altLang="en-US" sz="909" dirty="0">
                <a:latin typeface="Arial" panose="020B0604020202020204" pitchFamily="34" charset="0"/>
                <a:cs typeface="Arial" panose="020B0604020202020204" pitchFamily="34" charset="0"/>
              </a:rPr>
              <a:t>PostgreSQL, </a:t>
            </a:r>
            <a:r>
              <a:rPr lang="en-IN" altLang="en-US" sz="909" dirty="0" err="1">
                <a:latin typeface="Arial" panose="020B0604020202020204" pitchFamily="34" charset="0"/>
                <a:cs typeface="Arial" panose="020B0604020202020204" pitchFamily="34" charset="0"/>
              </a:rPr>
              <a:t>SQLAlchemy</a:t>
            </a:r>
            <a:r>
              <a:rPr lang="en-IN" altLang="en-US" sz="909" dirty="0">
                <a:latin typeface="Arial" panose="020B0604020202020204" pitchFamily="34" charset="0"/>
                <a:cs typeface="Arial" panose="020B0604020202020204" pitchFamily="34" charset="0"/>
              </a:rPr>
              <a:t> (SQLite </a:t>
            </a:r>
            <a:r>
              <a:rPr lang="en-IN" altLang="en-US" sz="909" dirty="0" err="1">
                <a:latin typeface="Arial" panose="020B0604020202020204" pitchFamily="34" charset="0"/>
                <a:cs typeface="Arial" panose="020B0604020202020204" pitchFamily="34" charset="0"/>
              </a:rPr>
              <a:t>fallback</a:t>
            </a:r>
            <a:r>
              <a:rPr lang="en-IN" altLang="en-US" sz="909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altLang="en-US" sz="909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Speech Processing: </a:t>
            </a:r>
            <a:r>
              <a:rPr lang="en-IN" altLang="en-US" sz="909" dirty="0">
                <a:latin typeface="Arial" panose="020B0604020202020204" pitchFamily="34" charset="0"/>
                <a:cs typeface="Arial" panose="020B0604020202020204" pitchFamily="34" charset="0"/>
              </a:rPr>
              <a:t>Whisper (whisper-large-v3-turbo), </a:t>
            </a:r>
            <a:r>
              <a:rPr lang="en-IN" altLang="en-US" sz="909" dirty="0" err="1">
                <a:latin typeface="Arial" panose="020B0604020202020204" pitchFamily="34" charset="0"/>
                <a:cs typeface="Arial" panose="020B0604020202020204" pitchFamily="34" charset="0"/>
              </a:rPr>
              <a:t>FFmpeg</a:t>
            </a:r>
            <a:endParaRPr lang="en-IN" altLang="en-US" sz="953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altLang="en-US" sz="909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Coding Environment: </a:t>
            </a:r>
            <a:r>
              <a:rPr lang="en-IN" altLang="en-US" sz="909" dirty="0">
                <a:latin typeface="Arial" panose="020B0604020202020204" pitchFamily="34" charset="0"/>
                <a:cs typeface="Arial" panose="020B0604020202020204" pitchFamily="34" charset="0"/>
              </a:rPr>
              <a:t>Monaco Editor, </a:t>
            </a:r>
            <a:r>
              <a:rPr lang="en-IN" altLang="en-US" sz="909" dirty="0" err="1">
                <a:latin typeface="Arial" panose="020B0604020202020204" pitchFamily="34" charset="0"/>
                <a:cs typeface="Arial" panose="020B0604020202020204" pitchFamily="34" charset="0"/>
              </a:rPr>
              <a:t>OpenCompiler</a:t>
            </a:r>
            <a:r>
              <a:rPr lang="en-IN" altLang="en-US" sz="909" dirty="0">
                <a:latin typeface="Arial" panose="020B0604020202020204" pitchFamily="34" charset="0"/>
                <a:cs typeface="Arial" panose="020B0604020202020204" pitchFamily="34" charset="0"/>
              </a:rPr>
              <a:t> API</a:t>
            </a:r>
          </a:p>
          <a:p>
            <a:pPr marL="285750" indent="-285750">
              <a:spcAft>
                <a:spcPts val="600"/>
              </a:spcAft>
              <a:buClr>
                <a:srgbClr val="B51F24"/>
              </a:buClr>
              <a:buFont typeface="Arial"/>
              <a:buChar char="•"/>
            </a:pPr>
            <a:endParaRPr lang="en-IN" sz="953" dirty="0">
              <a:solidFill>
                <a:srgbClr val="262626"/>
              </a:solidFill>
              <a:latin typeface="Arial"/>
            </a:endParaRPr>
          </a:p>
          <a:p>
            <a:pPr>
              <a:spcAft>
                <a:spcPts val="600"/>
              </a:spcAft>
              <a:buClr>
                <a:srgbClr val="B51F24"/>
              </a:buClr>
            </a:pPr>
            <a:endParaRPr lang="en-IN" sz="953" dirty="0">
              <a:solidFill>
                <a:srgbClr val="262626"/>
              </a:solidFill>
              <a:latin typeface="Arial"/>
            </a:endParaRPr>
          </a:p>
          <a:p>
            <a:pPr marL="285750" indent="-285750">
              <a:spcAft>
                <a:spcPts val="600"/>
              </a:spcAft>
              <a:buClr>
                <a:srgbClr val="B51F24"/>
              </a:buClr>
              <a:buFont typeface="Arial"/>
              <a:buChar char="•"/>
            </a:pPr>
            <a:endParaRPr sz="953" b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374080" y="4777361"/>
            <a:ext cx="4470840" cy="198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3" b="1">
                <a:solidFill>
                  <a:srgbClr val="B51F24"/>
                </a:solidFill>
                <a:latin typeface="Arial"/>
              </a:rPr>
              <a:t>System architecture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65160" y="5029200"/>
            <a:ext cx="930600" cy="3168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650" b="1" dirty="0">
                <a:solidFill>
                  <a:srgbClr val="262626"/>
                </a:solidFill>
                <a:latin typeface="Arial"/>
              </a:rPr>
              <a:t>User</a:t>
            </a:r>
          </a:p>
          <a:p>
            <a:pPr algn="ctr"/>
            <a:r>
              <a:rPr sz="520" b="0" dirty="0">
                <a:solidFill>
                  <a:srgbClr val="787878"/>
                </a:solidFill>
                <a:latin typeface="Arial"/>
              </a:rPr>
              <a:t>Login / Sign up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65160" y="5464800"/>
            <a:ext cx="930600" cy="3168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650" b="1">
                <a:solidFill>
                  <a:srgbClr val="262626"/>
                </a:solidFill>
                <a:latin typeface="Arial"/>
              </a:rPr>
              <a:t>Web Interface</a:t>
            </a:r>
          </a:p>
          <a:p>
            <a:pPr algn="ctr"/>
            <a:r>
              <a:rPr sz="520" b="0">
                <a:solidFill>
                  <a:srgbClr val="787878"/>
                </a:solidFill>
                <a:latin typeface="Arial"/>
              </a:rPr>
              <a:t>Frontend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65160" y="5900400"/>
            <a:ext cx="930600" cy="455400"/>
          </a:xfrm>
          <a:prstGeom prst="roundRect">
            <a:avLst>
              <a:gd name="adj" fmla="val 12000"/>
            </a:avLst>
          </a:prstGeom>
          <a:solidFill>
            <a:srgbClr val="B5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FastAPI Orchestrator</a:t>
            </a:r>
          </a:p>
          <a:p>
            <a:pPr algn="ctr"/>
            <a:r>
              <a:rPr sz="520" b="0">
                <a:solidFill>
                  <a:srgbClr val="FFFFFF"/>
                </a:solidFill>
                <a:latin typeface="Arial"/>
              </a:rPr>
              <a:t>Backend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65160" y="6613200"/>
            <a:ext cx="930600" cy="831600"/>
          </a:xfrm>
          <a:prstGeom prst="roundRect">
            <a:avLst>
              <a:gd name="adj" fmla="val 12000"/>
            </a:avLst>
          </a:prstGeom>
          <a:solidFill>
            <a:srgbClr val="FBECEC"/>
          </a:solidFill>
          <a:ln w="15875">
            <a:solidFill>
              <a:srgbClr val="C9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465160" y="6625080"/>
            <a:ext cx="930600" cy="13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6" b="1">
                <a:solidFill>
                  <a:srgbClr val="B51F24"/>
                </a:solidFill>
                <a:latin typeface="Arial"/>
              </a:rPr>
              <a:t>RAG Pipeline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524560" y="6771600"/>
            <a:ext cx="811800" cy="1861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563" b="0">
                <a:solidFill>
                  <a:srgbClr val="262626"/>
                </a:solidFill>
                <a:latin typeface="Arial"/>
              </a:rPr>
              <a:t>Resume / JD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524560" y="6989400"/>
            <a:ext cx="811800" cy="1861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563" b="0">
                <a:solidFill>
                  <a:srgbClr val="262626"/>
                </a:solidFill>
                <a:latin typeface="Arial"/>
              </a:rPr>
              <a:t>Context Retrieval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524560" y="7207200"/>
            <a:ext cx="811800" cy="1861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563" b="0">
                <a:solidFill>
                  <a:srgbClr val="262626"/>
                </a:solidFill>
                <a:latin typeface="Arial"/>
              </a:rPr>
              <a:t>Relevant Questions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65160" y="8078400"/>
            <a:ext cx="930600" cy="851400"/>
          </a:xfrm>
          <a:prstGeom prst="roundRect">
            <a:avLst>
              <a:gd name="adj" fmla="val 12000"/>
            </a:avLst>
          </a:prstGeom>
          <a:solidFill>
            <a:srgbClr val="B5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65160" y="8090280"/>
            <a:ext cx="930600" cy="237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PostgreSQL</a:t>
            </a:r>
          </a:p>
          <a:p>
            <a:pPr algn="ctr">
              <a:spcAft>
                <a:spcPts val="0"/>
              </a:spcAft>
            </a:pPr>
            <a:r>
              <a:rPr sz="520" b="0">
                <a:solidFill>
                  <a:srgbClr val="FFFFFF"/>
                </a:solidFill>
                <a:latin typeface="Arial"/>
              </a:rPr>
              <a:t>(SQLAlchemy)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504760" y="8347680"/>
            <a:ext cx="851400" cy="546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520" b="0">
                <a:solidFill>
                  <a:srgbClr val="262626"/>
                </a:solidFill>
                <a:latin typeface="Arial"/>
              </a:rPr>
              <a:t>User &amp; Profile</a:t>
            </a:r>
          </a:p>
          <a:p>
            <a:pPr algn="ctr"/>
            <a:r>
              <a:rPr sz="520" b="0">
                <a:solidFill>
                  <a:srgbClr val="262626"/>
                </a:solidFill>
                <a:latin typeface="Arial"/>
              </a:rPr>
              <a:t>Interview History</a:t>
            </a:r>
          </a:p>
          <a:p>
            <a:pPr algn="ctr"/>
            <a:r>
              <a:rPr sz="520" b="0">
                <a:solidFill>
                  <a:srgbClr val="262626"/>
                </a:solidFill>
                <a:latin typeface="Arial"/>
              </a:rPr>
              <a:t>Session Reports</a:t>
            </a:r>
          </a:p>
          <a:p>
            <a:pPr algn="ctr"/>
            <a:r>
              <a:rPr sz="520" b="0">
                <a:solidFill>
                  <a:srgbClr val="262626"/>
                </a:solidFill>
                <a:latin typeface="Arial"/>
              </a:rPr>
              <a:t>Skill State</a:t>
            </a:r>
          </a:p>
          <a:p>
            <a:pPr algn="ctr"/>
            <a:r>
              <a:rPr sz="520" b="0">
                <a:solidFill>
                  <a:srgbClr val="262626"/>
                </a:solidFill>
                <a:latin typeface="Arial"/>
              </a:rPr>
              <a:t>Saved Resources</a:t>
            </a:r>
          </a:p>
          <a:p>
            <a:pPr algn="ctr"/>
            <a:r>
              <a:rPr sz="520" b="0">
                <a:solidFill>
                  <a:srgbClr val="262626"/>
                </a:solidFill>
                <a:latin typeface="Arial"/>
              </a:rPr>
              <a:t>Placement Reports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286760" y="5029200"/>
            <a:ext cx="831600" cy="3168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B51F2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563" b="1">
                <a:solidFill>
                  <a:srgbClr val="262626"/>
                </a:solidFill>
                <a:latin typeface="Arial"/>
              </a:rPr>
              <a:t>LLM · Technical/HR</a:t>
            </a:r>
          </a:p>
          <a:p>
            <a:pPr algn="ctr"/>
            <a:r>
              <a:rPr sz="520" b="0">
                <a:solidFill>
                  <a:srgbClr val="787878"/>
                </a:solidFill>
                <a:latin typeface="Arial"/>
              </a:rPr>
              <a:t>Groq · gpt-oss-120b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850960" y="5029200"/>
            <a:ext cx="831600" cy="3168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B51F2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563" b="1">
                <a:solidFill>
                  <a:srgbClr val="262626"/>
                </a:solidFill>
                <a:latin typeface="Arial"/>
              </a:rPr>
              <a:t>LLM · GD</a:t>
            </a:r>
          </a:p>
          <a:p>
            <a:pPr algn="ctr"/>
            <a:r>
              <a:rPr sz="520" b="0">
                <a:solidFill>
                  <a:srgbClr val="787878"/>
                </a:solidFill>
                <a:latin typeface="Arial"/>
              </a:rPr>
              <a:t>OpenRouter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534360" y="5116320"/>
            <a:ext cx="198000" cy="0"/>
          </a:xfrm>
          <a:prstGeom prst="line">
            <a:avLst/>
          </a:prstGeom>
          <a:ln w="2857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6760080" y="5056920"/>
            <a:ext cx="514800" cy="118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20" b="0">
                <a:solidFill>
                  <a:srgbClr val="262626"/>
                </a:solidFill>
                <a:latin typeface="Arial"/>
              </a:rPr>
              <a:t>Request flow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534360" y="5258880"/>
            <a:ext cx="198000" cy="0"/>
          </a:xfrm>
          <a:prstGeom prst="line">
            <a:avLst/>
          </a:prstGeom>
          <a:ln w="28575">
            <a:solidFill>
              <a:srgbClr val="C92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760080" y="5199480"/>
            <a:ext cx="514800" cy="118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20" b="0">
                <a:solidFill>
                  <a:srgbClr val="262626"/>
                </a:solidFill>
                <a:latin typeface="Arial"/>
              </a:rPr>
              <a:t>Data / results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514560" y="5484600"/>
            <a:ext cx="3168000" cy="990000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C927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514560" y="5492520"/>
            <a:ext cx="3168000" cy="118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6" b="1">
                <a:solidFill>
                  <a:srgbClr val="B51F24"/>
                </a:solidFill>
                <a:latin typeface="Arial"/>
              </a:rPr>
              <a:t>Interview &amp; Practice Modules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554160" y="5623200"/>
            <a:ext cx="742500" cy="811800"/>
          </a:xfrm>
          <a:prstGeom prst="roundRect">
            <a:avLst>
              <a:gd name="adj" fmla="val 12000"/>
            </a:avLst>
          </a:prstGeom>
          <a:solidFill>
            <a:srgbClr val="FBECEC"/>
          </a:solidFill>
          <a:ln w="15875">
            <a:solidFill>
              <a:srgbClr val="C9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554160" y="5631120"/>
            <a:ext cx="742500" cy="1980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563" b="1">
                <a:solidFill>
                  <a:srgbClr val="B51F24"/>
                </a:solidFill>
                <a:latin typeface="Arial"/>
              </a:rPr>
              <a:t>Online Assessment (OA)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585840" y="5852880"/>
            <a:ext cx="679140" cy="257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520" b="0">
                <a:solidFill>
                  <a:srgbClr val="262626"/>
                </a:solidFill>
                <a:latin typeface="Arial"/>
              </a:rPr>
              <a:t>Question bank (system dataset)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336260" y="5623200"/>
            <a:ext cx="742500" cy="811800"/>
          </a:xfrm>
          <a:prstGeom prst="roundRect">
            <a:avLst>
              <a:gd name="adj" fmla="val 12000"/>
            </a:avLst>
          </a:prstGeom>
          <a:solidFill>
            <a:srgbClr val="FBECEC"/>
          </a:solidFill>
          <a:ln w="15875">
            <a:solidFill>
              <a:srgbClr val="C9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336260" y="5631120"/>
            <a:ext cx="742500" cy="1980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563" b="1">
                <a:solidFill>
                  <a:srgbClr val="B51F24"/>
                </a:solidFill>
                <a:latin typeface="Arial"/>
              </a:rPr>
              <a:t>Individual Practice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367940" y="5852880"/>
            <a:ext cx="679140" cy="257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520" b="0">
                <a:solidFill>
                  <a:srgbClr val="262626"/>
                </a:solidFill>
                <a:latin typeface="Arial"/>
              </a:rPr>
              <a:t>Technical Interview (LLM + RAG)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367940" y="6138000"/>
            <a:ext cx="679140" cy="257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520" b="0">
                <a:solidFill>
                  <a:srgbClr val="262626"/>
                </a:solidFill>
                <a:latin typeface="Arial"/>
              </a:rPr>
              <a:t>HR Interview (LLM + RAG)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118360" y="5623200"/>
            <a:ext cx="742500" cy="811800"/>
          </a:xfrm>
          <a:prstGeom prst="roundRect">
            <a:avLst>
              <a:gd name="adj" fmla="val 12000"/>
            </a:avLst>
          </a:prstGeom>
          <a:solidFill>
            <a:srgbClr val="FBECEC"/>
          </a:solidFill>
          <a:ln w="15875">
            <a:solidFill>
              <a:srgbClr val="C9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118360" y="5631120"/>
            <a:ext cx="742500" cy="1980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563" b="1">
                <a:solidFill>
                  <a:srgbClr val="B51F24"/>
                </a:solidFill>
                <a:latin typeface="Arial"/>
              </a:rPr>
              <a:t>Coding Practice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150040" y="5852880"/>
            <a:ext cx="679140" cy="257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520" b="0">
                <a:solidFill>
                  <a:srgbClr val="262626"/>
                </a:solidFill>
                <a:latin typeface="Arial"/>
              </a:rPr>
              <a:t>Monaco IDE (external)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150040" y="6138000"/>
            <a:ext cx="679140" cy="257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520" b="0">
                <a:solidFill>
                  <a:srgbClr val="262626"/>
                </a:solidFill>
                <a:latin typeface="Arial"/>
              </a:rPr>
              <a:t>Open Compiler API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900460" y="5623200"/>
            <a:ext cx="742500" cy="811800"/>
          </a:xfrm>
          <a:prstGeom prst="roundRect">
            <a:avLst>
              <a:gd name="adj" fmla="val 12000"/>
            </a:avLst>
          </a:prstGeom>
          <a:solidFill>
            <a:srgbClr val="FBECEC"/>
          </a:solidFill>
          <a:ln w="15875">
            <a:solidFill>
              <a:srgbClr val="C9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900460" y="5631120"/>
            <a:ext cx="742500" cy="1980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563" b="1">
                <a:solidFill>
                  <a:srgbClr val="B51F24"/>
                </a:solidFill>
                <a:latin typeface="Arial"/>
              </a:rPr>
              <a:t>Group Discussion (GD)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932140" y="5852880"/>
            <a:ext cx="679140" cy="257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520" b="0">
                <a:solidFill>
                  <a:srgbClr val="262626"/>
                </a:solidFill>
                <a:latin typeface="Arial"/>
              </a:rPr>
              <a:t>AI Personas (OpenRouter)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514560" y="6613200"/>
            <a:ext cx="3168000" cy="6732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587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514560" y="6621120"/>
            <a:ext cx="3168000" cy="126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6" b="1">
                <a:solidFill>
                  <a:srgbClr val="B51F24"/>
                </a:solidFill>
                <a:latin typeface="Arial"/>
              </a:rPr>
              <a:t>Evaluation &amp; Analysis Services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554160" y="6763680"/>
            <a:ext cx="742500" cy="48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563" b="1">
                <a:solidFill>
                  <a:srgbClr val="262626"/>
                </a:solidFill>
                <a:latin typeface="Arial"/>
              </a:rPr>
              <a:t>Content Evaluation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336260" y="6763680"/>
            <a:ext cx="742500" cy="48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563" b="1">
                <a:solidFill>
                  <a:srgbClr val="262626"/>
                </a:solidFill>
                <a:latin typeface="Arial"/>
              </a:rPr>
              <a:t>Speech Analysis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118360" y="6763680"/>
            <a:ext cx="742500" cy="48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563" b="1">
                <a:solidFill>
                  <a:srgbClr val="262626"/>
                </a:solidFill>
                <a:latin typeface="Arial"/>
              </a:rPr>
              <a:t>Answer Analysis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900460" y="6763680"/>
            <a:ext cx="742500" cy="48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563" b="1">
                <a:solidFill>
                  <a:srgbClr val="262626"/>
                </a:solidFill>
                <a:latin typeface="Arial"/>
              </a:rPr>
              <a:t>Skill Update</a:t>
            </a:r>
          </a:p>
          <a:p>
            <a:pPr algn="ctr"/>
            <a:r>
              <a:rPr sz="476" b="0">
                <a:solidFill>
                  <a:srgbClr val="787878"/>
                </a:solidFill>
                <a:latin typeface="Arial"/>
              </a:rPr>
              <a:t>Only OA, Individual Practice &amp; Full Simulation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514560" y="7405200"/>
            <a:ext cx="3168000" cy="5346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587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514560" y="7413120"/>
            <a:ext cx="3168000" cy="126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6" b="1">
                <a:solidFill>
                  <a:srgbClr val="B51F24"/>
                </a:solidFill>
                <a:latin typeface="Arial"/>
              </a:rPr>
              <a:t>Adaptive Learning (Contextual Bandit)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554160" y="7551720"/>
            <a:ext cx="922680" cy="348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563" b="1">
                <a:solidFill>
                  <a:srgbClr val="262626"/>
                </a:solidFill>
                <a:latin typeface="Arial"/>
              </a:rPr>
              <a:t>State</a:t>
            </a:r>
          </a:p>
          <a:p>
            <a:pPr algn="ctr"/>
            <a:r>
              <a:rPr sz="520" b="0">
                <a:solidFill>
                  <a:srgbClr val="787878"/>
                </a:solidFill>
                <a:latin typeface="Arial"/>
              </a:rPr>
              <a:t>Score + weak topics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7492680" y="7725960"/>
            <a:ext cx="126720" cy="0"/>
          </a:xfrm>
          <a:prstGeom prst="line">
            <a:avLst/>
          </a:prstGeom>
          <a:ln w="2857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95"/>
          <p:cNvSpPr/>
          <p:nvPr/>
        </p:nvSpPr>
        <p:spPr>
          <a:xfrm>
            <a:off x="7635240" y="7551720"/>
            <a:ext cx="922680" cy="348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563" b="1">
                <a:solidFill>
                  <a:srgbClr val="262626"/>
                </a:solidFill>
                <a:latin typeface="Arial"/>
              </a:rPr>
              <a:t>Action Selection</a:t>
            </a:r>
          </a:p>
          <a:p>
            <a:pPr algn="ctr"/>
            <a:r>
              <a:rPr sz="520" b="0">
                <a:solidFill>
                  <a:srgbClr val="787878"/>
                </a:solidFill>
                <a:latin typeface="Arial"/>
              </a:rPr>
              <a:t>Revision / Easy / Mixed / Advanced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8573760" y="7725960"/>
            <a:ext cx="126720" cy="0"/>
          </a:xfrm>
          <a:prstGeom prst="line">
            <a:avLst/>
          </a:prstGeom>
          <a:ln w="2857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/>
          <p:cNvSpPr/>
          <p:nvPr/>
        </p:nvSpPr>
        <p:spPr>
          <a:xfrm>
            <a:off x="8716320" y="7551720"/>
            <a:ext cx="922680" cy="348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563" b="1">
                <a:solidFill>
                  <a:srgbClr val="262626"/>
                </a:solidFill>
                <a:latin typeface="Arial"/>
              </a:rPr>
              <a:t>Resource Recommendation</a:t>
            </a:r>
          </a:p>
          <a:p>
            <a:pPr algn="ctr"/>
            <a:r>
              <a:rPr sz="520" b="0">
                <a:solidFill>
                  <a:srgbClr val="787878"/>
                </a:solidFill>
                <a:latin typeface="Arial"/>
              </a:rPr>
              <a:t>YouTube + ranking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514560" y="8078400"/>
            <a:ext cx="3168000" cy="851400"/>
          </a:xfrm>
          <a:prstGeom prst="roundRect">
            <a:avLst>
              <a:gd name="adj" fmla="val 5000"/>
            </a:avLst>
          </a:prstGeom>
          <a:solidFill>
            <a:srgbClr val="B5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514560" y="8086320"/>
            <a:ext cx="3168000" cy="126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6" b="1">
                <a:solidFill>
                  <a:srgbClr val="FFFFFF"/>
                </a:solidFill>
                <a:latin typeface="Arial"/>
              </a:rPr>
              <a:t>Reports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546240" y="8217000"/>
            <a:ext cx="1821600" cy="681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554160" y="8224920"/>
            <a:ext cx="1801800" cy="198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63" b="1">
                <a:solidFill>
                  <a:srgbClr val="B51F24"/>
                </a:solidFill>
                <a:latin typeface="Arial"/>
              </a:rPr>
              <a:t>Placement Report</a:t>
            </a:r>
          </a:p>
          <a:p>
            <a:pPr algn="ctr">
              <a:spcAft>
                <a:spcPts val="0"/>
              </a:spcAft>
            </a:pPr>
            <a:r>
              <a:rPr sz="476" b="0">
                <a:solidFill>
                  <a:srgbClr val="787878"/>
                </a:solidFill>
                <a:latin typeface="Arial"/>
              </a:rPr>
              <a:t>after full simulation only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562080" y="8474400"/>
            <a:ext cx="396000" cy="376200"/>
          </a:xfrm>
          <a:prstGeom prst="roundRect">
            <a:avLst>
              <a:gd name="adj" fmla="val 12000"/>
            </a:avLst>
          </a:prstGeom>
          <a:solidFill>
            <a:srgbClr val="FBECEC"/>
          </a:solidFill>
          <a:ln w="15875">
            <a:solidFill>
              <a:srgbClr val="C9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476" b="0">
                <a:solidFill>
                  <a:srgbClr val="262626"/>
                </a:solidFill>
                <a:latin typeface="Arial"/>
              </a:rPr>
              <a:t>OA Result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6966000" y="8660520"/>
            <a:ext cx="51480" cy="0"/>
          </a:xfrm>
          <a:prstGeom prst="line">
            <a:avLst/>
          </a:prstGeom>
          <a:ln w="2222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le 104"/>
          <p:cNvSpPr/>
          <p:nvPr/>
        </p:nvSpPr>
        <p:spPr>
          <a:xfrm>
            <a:off x="7025400" y="8474400"/>
            <a:ext cx="396000" cy="376200"/>
          </a:xfrm>
          <a:prstGeom prst="roundRect">
            <a:avLst>
              <a:gd name="adj" fmla="val 12000"/>
            </a:avLst>
          </a:prstGeom>
          <a:solidFill>
            <a:srgbClr val="FBECEC"/>
          </a:solidFill>
          <a:ln w="15875">
            <a:solidFill>
              <a:srgbClr val="C9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476" b="0">
                <a:solidFill>
                  <a:srgbClr val="262626"/>
                </a:solidFill>
                <a:latin typeface="Arial"/>
              </a:rPr>
              <a:t>Technical Result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7429320" y="8660520"/>
            <a:ext cx="51480" cy="0"/>
          </a:xfrm>
          <a:prstGeom prst="line">
            <a:avLst/>
          </a:prstGeom>
          <a:ln w="2222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ounded Rectangle 106"/>
          <p:cNvSpPr/>
          <p:nvPr/>
        </p:nvSpPr>
        <p:spPr>
          <a:xfrm>
            <a:off x="7488720" y="8474400"/>
            <a:ext cx="396000" cy="376200"/>
          </a:xfrm>
          <a:prstGeom prst="roundRect">
            <a:avLst>
              <a:gd name="adj" fmla="val 12000"/>
            </a:avLst>
          </a:prstGeom>
          <a:solidFill>
            <a:srgbClr val="FBECEC"/>
          </a:solidFill>
          <a:ln w="15875">
            <a:solidFill>
              <a:srgbClr val="C9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476" b="0">
                <a:solidFill>
                  <a:srgbClr val="262626"/>
                </a:solidFill>
                <a:latin typeface="Arial"/>
              </a:rPr>
              <a:t>HR Result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7892640" y="8660520"/>
            <a:ext cx="51480" cy="0"/>
          </a:xfrm>
          <a:prstGeom prst="line">
            <a:avLst/>
          </a:prstGeom>
          <a:ln w="2222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ounded Rectangle 108"/>
          <p:cNvSpPr/>
          <p:nvPr/>
        </p:nvSpPr>
        <p:spPr>
          <a:xfrm>
            <a:off x="7952040" y="8474400"/>
            <a:ext cx="396000" cy="376200"/>
          </a:xfrm>
          <a:prstGeom prst="roundRect">
            <a:avLst>
              <a:gd name="adj" fmla="val 12000"/>
            </a:avLst>
          </a:prstGeom>
          <a:solidFill>
            <a:srgbClr val="FBECEC"/>
          </a:solidFill>
          <a:ln w="15875">
            <a:solidFill>
              <a:srgbClr val="C9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476" b="0">
                <a:solidFill>
                  <a:srgbClr val="262626"/>
                </a:solidFill>
                <a:latin typeface="Arial"/>
              </a:rPr>
              <a:t>Placement Report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399520" y="8217000"/>
            <a:ext cx="1251360" cy="681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399520" y="8224920"/>
            <a:ext cx="1251360" cy="198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63" b="1">
                <a:solidFill>
                  <a:srgbClr val="B51F24"/>
                </a:solidFill>
                <a:latin typeface="Arial"/>
              </a:rPr>
              <a:t>Module Reports</a:t>
            </a:r>
          </a:p>
          <a:p>
            <a:pPr algn="ctr">
              <a:spcAft>
                <a:spcPts val="0"/>
              </a:spcAft>
            </a:pPr>
            <a:r>
              <a:rPr sz="476" b="0">
                <a:solidFill>
                  <a:srgbClr val="787878"/>
                </a:solidFill>
                <a:latin typeface="Arial"/>
              </a:rPr>
              <a:t>individual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439120" y="8442720"/>
            <a:ext cx="336600" cy="190080"/>
          </a:xfrm>
          <a:prstGeom prst="roundRect">
            <a:avLst>
              <a:gd name="adj" fmla="val 25000"/>
            </a:avLst>
          </a:prstGeom>
          <a:solidFill>
            <a:srgbClr val="FBECEC"/>
          </a:solidFill>
          <a:ln w="15875">
            <a:solidFill>
              <a:srgbClr val="C9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520" b="0">
                <a:solidFill>
                  <a:srgbClr val="262626"/>
                </a:solidFill>
                <a:latin typeface="Arial"/>
              </a:rPr>
              <a:t>OA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803440" y="8442720"/>
            <a:ext cx="475200" cy="190080"/>
          </a:xfrm>
          <a:prstGeom prst="roundRect">
            <a:avLst>
              <a:gd name="adj" fmla="val 25000"/>
            </a:avLst>
          </a:prstGeom>
          <a:solidFill>
            <a:srgbClr val="FBECEC"/>
          </a:solidFill>
          <a:ln w="15875">
            <a:solidFill>
              <a:srgbClr val="C9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520" b="0">
                <a:solidFill>
                  <a:srgbClr val="262626"/>
                </a:solidFill>
                <a:latin typeface="Arial"/>
              </a:rPr>
              <a:t>Technical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9306360" y="8442720"/>
            <a:ext cx="316800" cy="190080"/>
          </a:xfrm>
          <a:prstGeom prst="roundRect">
            <a:avLst>
              <a:gd name="adj" fmla="val 25000"/>
            </a:avLst>
          </a:prstGeom>
          <a:solidFill>
            <a:srgbClr val="FBECEC"/>
          </a:solidFill>
          <a:ln w="15875">
            <a:solidFill>
              <a:srgbClr val="C9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520" b="0">
                <a:solidFill>
                  <a:srgbClr val="262626"/>
                </a:solidFill>
                <a:latin typeface="Arial"/>
              </a:rPr>
              <a:t>HR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439120" y="8672400"/>
            <a:ext cx="475200" cy="190080"/>
          </a:xfrm>
          <a:prstGeom prst="roundRect">
            <a:avLst>
              <a:gd name="adj" fmla="val 25000"/>
            </a:avLst>
          </a:prstGeom>
          <a:solidFill>
            <a:srgbClr val="FBECEC"/>
          </a:solidFill>
          <a:ln w="15875">
            <a:solidFill>
              <a:srgbClr val="C9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520" b="0">
                <a:solidFill>
                  <a:srgbClr val="262626"/>
                </a:solidFill>
                <a:latin typeface="Arial"/>
              </a:rPr>
              <a:t>Coding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8949960" y="8672400"/>
            <a:ext cx="316800" cy="190080"/>
          </a:xfrm>
          <a:prstGeom prst="roundRect">
            <a:avLst>
              <a:gd name="adj" fmla="val 25000"/>
            </a:avLst>
          </a:prstGeom>
          <a:solidFill>
            <a:srgbClr val="FBECEC"/>
          </a:solidFill>
          <a:ln w="15875">
            <a:solidFill>
              <a:srgbClr val="C9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520" b="0">
                <a:solidFill>
                  <a:srgbClr val="262626"/>
                </a:solidFill>
                <a:latin typeface="Arial"/>
              </a:rPr>
              <a:t>GD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5930460" y="5346000"/>
            <a:ext cx="0" cy="118800"/>
          </a:xfrm>
          <a:prstGeom prst="line">
            <a:avLst/>
          </a:prstGeom>
          <a:ln w="2857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5930460" y="5781600"/>
            <a:ext cx="0" cy="118800"/>
          </a:xfrm>
          <a:prstGeom prst="line">
            <a:avLst/>
          </a:prstGeom>
          <a:ln w="28575">
            <a:solidFill>
              <a:srgbClr val="262626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6395760" y="6130080"/>
            <a:ext cx="118800" cy="0"/>
          </a:xfrm>
          <a:prstGeom prst="line">
            <a:avLst/>
          </a:prstGeom>
          <a:ln w="28575">
            <a:solidFill>
              <a:srgbClr val="262626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5930460" y="6355800"/>
            <a:ext cx="0" cy="257400"/>
          </a:xfrm>
          <a:prstGeom prst="line">
            <a:avLst/>
          </a:prstGeom>
          <a:ln w="2857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6395760" y="6276600"/>
            <a:ext cx="59400" cy="0"/>
          </a:xfrm>
          <a:prstGeom prst="line">
            <a:avLst/>
          </a:prstGeom>
          <a:ln w="28575">
            <a:solidFill>
              <a:srgbClr val="C9272E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6455160" y="6276600"/>
            <a:ext cx="0" cy="514800"/>
          </a:xfrm>
          <a:prstGeom prst="line">
            <a:avLst/>
          </a:prstGeom>
          <a:ln w="28575">
            <a:solidFill>
              <a:srgbClr val="C9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6455160" y="6791400"/>
            <a:ext cx="59400" cy="0"/>
          </a:xfrm>
          <a:prstGeom prst="line">
            <a:avLst/>
          </a:prstGeom>
          <a:ln w="28575">
            <a:solidFill>
              <a:srgbClr val="C92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6395760" y="7009200"/>
            <a:ext cx="118800" cy="0"/>
          </a:xfrm>
          <a:prstGeom prst="line">
            <a:avLst/>
          </a:prstGeom>
          <a:ln w="28575">
            <a:solidFill>
              <a:srgbClr val="C9272E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5374080" y="6130080"/>
            <a:ext cx="91080" cy="0"/>
          </a:xfrm>
          <a:prstGeom prst="line">
            <a:avLst/>
          </a:prstGeom>
          <a:ln w="28575">
            <a:solidFill>
              <a:srgbClr val="C9272E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5374080" y="6130080"/>
            <a:ext cx="0" cy="2376000"/>
          </a:xfrm>
          <a:prstGeom prst="line">
            <a:avLst/>
          </a:prstGeom>
          <a:ln w="28575">
            <a:solidFill>
              <a:srgbClr val="C9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5374080" y="8506080"/>
            <a:ext cx="91080" cy="0"/>
          </a:xfrm>
          <a:prstGeom prst="line">
            <a:avLst/>
          </a:prstGeom>
          <a:ln w="28575">
            <a:solidFill>
              <a:srgbClr val="C92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7702560" y="5346000"/>
            <a:ext cx="0" cy="138600"/>
          </a:xfrm>
          <a:prstGeom prst="line">
            <a:avLst/>
          </a:prstGeom>
          <a:ln w="28575">
            <a:solidFill>
              <a:srgbClr val="26262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9266760" y="5346000"/>
            <a:ext cx="0" cy="138600"/>
          </a:xfrm>
          <a:prstGeom prst="line">
            <a:avLst/>
          </a:prstGeom>
          <a:ln w="28575">
            <a:solidFill>
              <a:srgbClr val="26262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6925410" y="6474600"/>
            <a:ext cx="0" cy="138600"/>
          </a:xfrm>
          <a:prstGeom prst="line">
            <a:avLst/>
          </a:prstGeom>
          <a:ln w="28575">
            <a:solidFill>
              <a:srgbClr val="C92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7707510" y="6474600"/>
            <a:ext cx="0" cy="138600"/>
          </a:xfrm>
          <a:prstGeom prst="line">
            <a:avLst/>
          </a:prstGeom>
          <a:ln w="28575">
            <a:solidFill>
              <a:srgbClr val="C92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098560" y="7286400"/>
            <a:ext cx="0" cy="118800"/>
          </a:xfrm>
          <a:prstGeom prst="line">
            <a:avLst/>
          </a:prstGeom>
          <a:ln w="28575">
            <a:solidFill>
              <a:srgbClr val="C92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098560" y="7939800"/>
            <a:ext cx="0" cy="138600"/>
          </a:xfrm>
          <a:prstGeom prst="line">
            <a:avLst/>
          </a:prstGeom>
          <a:ln w="28575">
            <a:solidFill>
              <a:srgbClr val="C92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9682560" y="6019200"/>
            <a:ext cx="67320" cy="0"/>
          </a:xfrm>
          <a:prstGeom prst="line">
            <a:avLst/>
          </a:prstGeom>
          <a:ln w="28575">
            <a:solidFill>
              <a:srgbClr val="C9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749880" y="6019200"/>
            <a:ext cx="0" cy="2494800"/>
          </a:xfrm>
          <a:prstGeom prst="line">
            <a:avLst/>
          </a:prstGeom>
          <a:ln w="28575">
            <a:solidFill>
              <a:srgbClr val="C9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9682560" y="8514000"/>
            <a:ext cx="67320" cy="0"/>
          </a:xfrm>
          <a:prstGeom prst="line">
            <a:avLst/>
          </a:prstGeom>
          <a:ln w="28575">
            <a:solidFill>
              <a:srgbClr val="C92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6395760" y="8316000"/>
            <a:ext cx="118800" cy="0"/>
          </a:xfrm>
          <a:prstGeom prst="line">
            <a:avLst/>
          </a:prstGeom>
          <a:ln w="28575">
            <a:solidFill>
              <a:srgbClr val="C9272E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6395760" y="8692200"/>
            <a:ext cx="118800" cy="0"/>
          </a:xfrm>
          <a:prstGeom prst="line">
            <a:avLst/>
          </a:prstGeom>
          <a:ln w="28575">
            <a:solidFill>
              <a:srgbClr val="C9272E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5346360" y="8989200"/>
            <a:ext cx="2138400" cy="198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3" b="1" dirty="0">
                <a:solidFill>
                  <a:srgbClr val="B51F24"/>
                </a:solidFill>
                <a:latin typeface="Arial"/>
              </a:rPr>
              <a:t>Score progression (overall score)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603560" y="8989200"/>
            <a:ext cx="2217600" cy="198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3" b="1" dirty="0">
                <a:solidFill>
                  <a:srgbClr val="B51F24"/>
                </a:solidFill>
                <a:latin typeface="Arial"/>
              </a:rPr>
              <a:t>Adaptive-</a:t>
            </a:r>
            <a:r>
              <a:rPr sz="953" b="1" dirty="0" err="1">
                <a:solidFill>
                  <a:srgbClr val="B51F24"/>
                </a:solidFill>
                <a:latin typeface="Arial"/>
              </a:rPr>
              <a:t>behaviour</a:t>
            </a:r>
            <a:r>
              <a:rPr sz="953" b="1" dirty="0">
                <a:solidFill>
                  <a:srgbClr val="B51F24"/>
                </a:solidFill>
                <a:latin typeface="Arial"/>
              </a:rPr>
              <a:t> metrics (%)</a:t>
            </a:r>
          </a:p>
        </p:txBody>
      </p:sp>
      <p:graphicFrame>
        <p:nvGraphicFramePr>
          <p:cNvPr id="141" name="Chart 1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062066"/>
              </p:ext>
            </p:extLst>
          </p:nvPr>
        </p:nvGraphicFramePr>
        <p:xfrm>
          <a:off x="5326560" y="9187200"/>
          <a:ext cx="2197800" cy="1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2" name="Chart 1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162681"/>
              </p:ext>
            </p:extLst>
          </p:nvPr>
        </p:nvGraphicFramePr>
        <p:xfrm>
          <a:off x="7603560" y="9187200"/>
          <a:ext cx="2193840" cy="1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2" name="TextBox 151"/>
          <p:cNvSpPr txBox="1"/>
          <p:nvPr/>
        </p:nvSpPr>
        <p:spPr>
          <a:xfrm>
            <a:off x="10011240" y="3306600"/>
            <a:ext cx="4470840" cy="13068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909" b="1" dirty="0">
                <a:solidFill>
                  <a:srgbClr val="B51F24"/>
                </a:solidFill>
                <a:latin typeface="Arial"/>
              </a:rPr>
              <a:t>Interpretation</a:t>
            </a:r>
          </a:p>
          <a:p>
            <a:pPr marL="285750" indent="-285750">
              <a:spcAft>
                <a:spcPts val="300"/>
              </a:spcAft>
              <a:buClr>
                <a:srgbClr val="B51F24"/>
              </a:buClr>
              <a:buFont typeface="Arial"/>
              <a:buChar char="•"/>
            </a:pPr>
            <a:r>
              <a:rPr sz="866" b="0" dirty="0">
                <a:solidFill>
                  <a:srgbClr val="262626"/>
                </a:solidFill>
                <a:latin typeface="Arial"/>
              </a:rPr>
              <a:t>Earlier answers shaped follow-ups; recorded weaknesses shaped retries and resources.</a:t>
            </a:r>
          </a:p>
          <a:p>
            <a:pPr marL="285750" indent="-285750">
              <a:spcAft>
                <a:spcPts val="300"/>
              </a:spcAft>
              <a:buClr>
                <a:srgbClr val="B51F24"/>
              </a:buClr>
              <a:buFont typeface="Arial"/>
              <a:buChar char="•"/>
            </a:pPr>
            <a:r>
              <a:rPr sz="866" b="0" dirty="0">
                <a:solidFill>
                  <a:srgbClr val="262626"/>
                </a:solidFill>
                <a:latin typeface="Arial"/>
              </a:rPr>
              <a:t>One persistent profile ties assessment feedback to progress tracking.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909" b="1" dirty="0">
                <a:solidFill>
                  <a:srgbClr val="B51F24"/>
                </a:solidFill>
                <a:latin typeface="Arial"/>
              </a:rPr>
              <a:t>Observations &amp; limitations</a:t>
            </a:r>
          </a:p>
          <a:p>
            <a:pPr marL="285750" indent="-285750">
              <a:spcAft>
                <a:spcPts val="300"/>
              </a:spcAft>
              <a:buClr>
                <a:srgbClr val="B51F24"/>
              </a:buClr>
              <a:buFont typeface="Arial"/>
              <a:buChar char="•"/>
            </a:pPr>
            <a:r>
              <a:rPr sz="866" b="0" dirty="0">
                <a:solidFill>
                  <a:srgbClr val="262626"/>
                </a:solidFill>
                <a:latin typeface="Arial"/>
              </a:rPr>
              <a:t>Scores plateaued around 66–70 after early gains; harder, more varied practice is needed.</a:t>
            </a:r>
          </a:p>
          <a:p>
            <a:pPr marL="285750" indent="-285750">
              <a:spcAft>
                <a:spcPts val="300"/>
              </a:spcAft>
              <a:buClr>
                <a:srgbClr val="B51F24"/>
              </a:buClr>
              <a:buFont typeface="Arial"/>
              <a:buChar char="•"/>
            </a:pPr>
            <a:r>
              <a:rPr sz="866" b="0" dirty="0">
                <a:solidFill>
                  <a:srgbClr val="262626"/>
                </a:solidFill>
                <a:latin typeface="Arial"/>
              </a:rPr>
              <a:t>One candidate profile per role: results do not prove causation or generalize. Needs larger studies and expert validation.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011240" y="6672600"/>
            <a:ext cx="4470840" cy="17028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marL="285750" indent="-285750">
              <a:spcAft>
                <a:spcPts val="600"/>
              </a:spcAft>
              <a:buClr>
                <a:srgbClr val="B51F24"/>
              </a:buClr>
              <a:buFont typeface="Arial"/>
              <a:buChar char="•"/>
            </a:pPr>
            <a:r>
              <a:rPr sz="953" b="1">
                <a:solidFill>
                  <a:srgbClr val="B51F24"/>
                </a:solidFill>
                <a:latin typeface="Arial"/>
              </a:rPr>
              <a:t>Unified preparation: </a:t>
            </a:r>
            <a:r>
              <a:rPr sz="953" b="0">
                <a:solidFill>
                  <a:srgbClr val="262626"/>
                </a:solidFill>
                <a:latin typeface="Arial"/>
              </a:rPr>
              <a:t>assessment, coding, interviews, placement simulation and GD in one platform.</a:t>
            </a:r>
          </a:p>
          <a:p>
            <a:pPr marL="285750" indent="-285750">
              <a:spcAft>
                <a:spcPts val="600"/>
              </a:spcAft>
              <a:buClr>
                <a:srgbClr val="B51F24"/>
              </a:buClr>
              <a:buFont typeface="Arial"/>
              <a:buChar char="•"/>
            </a:pPr>
            <a:r>
              <a:rPr sz="953" b="1">
                <a:solidFill>
                  <a:srgbClr val="B51F24"/>
                </a:solidFill>
                <a:latin typeface="Arial"/>
              </a:rPr>
              <a:t>Closed-loop learning: </a:t>
            </a:r>
            <a:r>
              <a:rPr sz="953" b="0">
                <a:solidFill>
                  <a:srgbClr val="262626"/>
                </a:solidFill>
                <a:latin typeface="Arial"/>
              </a:rPr>
              <a:t>assessment drives weakness diagnosis, targeted resources and the next practice.</a:t>
            </a:r>
          </a:p>
          <a:p>
            <a:pPr marL="285750" indent="-285750">
              <a:spcAft>
                <a:spcPts val="600"/>
              </a:spcAft>
              <a:buClr>
                <a:srgbClr val="B51F24"/>
              </a:buClr>
              <a:buFont typeface="Arial"/>
              <a:buChar char="•"/>
            </a:pPr>
            <a:r>
              <a:rPr sz="953" b="1">
                <a:solidFill>
                  <a:srgbClr val="B51F24"/>
                </a:solidFill>
                <a:latin typeface="Arial"/>
              </a:rPr>
              <a:t>Promising results: </a:t>
            </a:r>
            <a:r>
              <a:rPr sz="953" b="0">
                <a:solidFill>
                  <a:srgbClr val="262626"/>
                </a:solidFill>
                <a:latin typeface="Arial"/>
              </a:rPr>
              <a:t>17.6% average score gain with adaptive questioning and targeted learning.</a:t>
            </a:r>
          </a:p>
          <a:p>
            <a:pPr marL="285750" indent="-285750">
              <a:spcAft>
                <a:spcPts val="600"/>
              </a:spcAft>
              <a:buClr>
                <a:srgbClr val="B51F24"/>
              </a:buClr>
              <a:buFont typeface="Arial"/>
              <a:buChar char="•"/>
            </a:pPr>
            <a:r>
              <a:rPr sz="953" b="1">
                <a:solidFill>
                  <a:srgbClr val="B51F24"/>
                </a:solidFill>
                <a:latin typeface="Arial"/>
              </a:rPr>
              <a:t>Future scope: </a:t>
            </a:r>
            <a:r>
              <a:rPr sz="953" b="0">
                <a:solidFill>
                  <a:srgbClr val="262626"/>
                </a:solidFill>
                <a:latin typeface="Arial"/>
              </a:rPr>
              <a:t>validate against human experts; larger controlled studies.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011240" y="8672400"/>
            <a:ext cx="4470840" cy="178200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spcAft>
                <a:spcPts val="200"/>
              </a:spcAft>
            </a:pPr>
            <a:r>
              <a:rPr sz="606" b="1">
                <a:solidFill>
                  <a:srgbClr val="B51F24"/>
                </a:solidFill>
                <a:latin typeface="Arial"/>
              </a:rPr>
              <a:t>[1] </a:t>
            </a:r>
            <a:r>
              <a:rPr sz="606" b="0">
                <a:solidFill>
                  <a:srgbClr val="262626"/>
                </a:solidFill>
                <a:latin typeface="Arial"/>
              </a:rPr>
              <a:t>M. E. Hoque et al., “MACH: My automated conversation coach,” UbiComp, 2013.</a:t>
            </a:r>
          </a:p>
          <a:p>
            <a:pPr>
              <a:spcAft>
                <a:spcPts val="200"/>
              </a:spcAft>
            </a:pPr>
            <a:r>
              <a:rPr sz="606" b="1">
                <a:solidFill>
                  <a:srgbClr val="B51F24"/>
                </a:solidFill>
                <a:latin typeface="Arial"/>
              </a:rPr>
              <a:t>[2] </a:t>
            </a:r>
            <a:r>
              <a:rPr sz="606" b="0">
                <a:solidFill>
                  <a:srgbClr val="262626"/>
                </a:solidFill>
                <a:latin typeface="Arial"/>
              </a:rPr>
              <a:t>K. Anderson et al., “The TARDIS framework: Intelligent virtual agents for social coaching in job interviews,” ACE, 2013.</a:t>
            </a:r>
          </a:p>
          <a:p>
            <a:pPr>
              <a:spcAft>
                <a:spcPts val="200"/>
              </a:spcAft>
            </a:pPr>
            <a:r>
              <a:rPr sz="606" b="1">
                <a:solidFill>
                  <a:srgbClr val="B51F24"/>
                </a:solidFill>
                <a:latin typeface="Arial"/>
              </a:rPr>
              <a:t>[3] </a:t>
            </a:r>
            <a:r>
              <a:rPr sz="606" b="0">
                <a:solidFill>
                  <a:srgbClr val="262626"/>
                </a:solidFill>
                <a:latin typeface="Arial"/>
              </a:rPr>
              <a:t>K. Inoue et al., “Job interviewer android with elaborate follow-up question generation,” ACM ICMI, 2020.</a:t>
            </a:r>
          </a:p>
          <a:p>
            <a:pPr>
              <a:spcAft>
                <a:spcPts val="200"/>
              </a:spcAft>
            </a:pPr>
            <a:r>
              <a:rPr sz="606" b="1">
                <a:solidFill>
                  <a:srgbClr val="B51F24"/>
                </a:solidFill>
                <a:latin typeface="Arial"/>
              </a:rPr>
              <a:t>[4] </a:t>
            </a:r>
            <a:r>
              <a:rPr sz="606" b="0">
                <a:solidFill>
                  <a:srgbClr val="262626"/>
                </a:solidFill>
                <a:latin typeface="Arial"/>
              </a:rPr>
              <a:t>M. Li et al., “EZInterviewer: To improve job interview performance with mock interview generator,” ACM WSDM, 2023.</a:t>
            </a:r>
          </a:p>
          <a:p>
            <a:pPr>
              <a:spcAft>
                <a:spcPts val="200"/>
              </a:spcAft>
            </a:pPr>
            <a:r>
              <a:rPr sz="606" b="1">
                <a:solidFill>
                  <a:srgbClr val="B51F24"/>
                </a:solidFill>
                <a:latin typeface="Arial"/>
              </a:rPr>
              <a:t>[5] </a:t>
            </a:r>
            <a:r>
              <a:rPr sz="606" b="0">
                <a:solidFill>
                  <a:srgbClr val="262626"/>
                </a:solidFill>
                <a:latin typeface="Arial"/>
              </a:rPr>
              <a:t>H. Sun et al., “MockLLM: A multi-agent behavior collaboration framework for online job seeking and recruiting,” ACM SIGKDD, 2025.</a:t>
            </a:r>
          </a:p>
          <a:p>
            <a:pPr>
              <a:spcAft>
                <a:spcPts val="200"/>
              </a:spcAft>
            </a:pPr>
            <a:r>
              <a:rPr sz="606" b="1">
                <a:solidFill>
                  <a:srgbClr val="B51F24"/>
                </a:solidFill>
                <a:latin typeface="Arial"/>
              </a:rPr>
              <a:t>[6] </a:t>
            </a:r>
            <a:r>
              <a:rPr sz="606" b="0">
                <a:solidFill>
                  <a:srgbClr val="262626"/>
                </a:solidFill>
                <a:latin typeface="Arial"/>
              </a:rPr>
              <a:t>T. Daryanto et al., “Conversate: Supporting reflective learning in interview practice through interactive simulation and dialogic feedback,” PACM HCI, 2025.</a:t>
            </a:r>
          </a:p>
          <a:p>
            <a:pPr>
              <a:spcAft>
                <a:spcPts val="200"/>
              </a:spcAft>
            </a:pPr>
            <a:r>
              <a:rPr sz="606" b="1">
                <a:solidFill>
                  <a:srgbClr val="B51F24"/>
                </a:solidFill>
                <a:latin typeface="Arial"/>
              </a:rPr>
              <a:t>[7] </a:t>
            </a:r>
            <a:r>
              <a:rPr sz="606" b="0">
                <a:solidFill>
                  <a:srgbClr val="262626"/>
                </a:solidFill>
                <a:latin typeface="Arial"/>
              </a:rPr>
              <a:t>I. Naim et al., “Automated analysis and prediction of job interview performance,” IEEE Trans. Affective Computing, 2018.</a:t>
            </a:r>
          </a:p>
          <a:p>
            <a:pPr>
              <a:spcAft>
                <a:spcPts val="200"/>
              </a:spcAft>
            </a:pPr>
            <a:r>
              <a:rPr sz="606" b="1">
                <a:solidFill>
                  <a:srgbClr val="B51F24"/>
                </a:solidFill>
                <a:latin typeface="Arial"/>
              </a:rPr>
              <a:t>[8] </a:t>
            </a:r>
            <a:r>
              <a:rPr sz="606" b="0">
                <a:solidFill>
                  <a:srgbClr val="262626"/>
                </a:solidFill>
                <a:latin typeface="Arial"/>
              </a:rPr>
              <a:t>L. Hemamou et al., “HireNet: A hierarchical attention model for the automatic analysis of asynchronous video job interviews,” AAAI, 2019.</a:t>
            </a:r>
          </a:p>
          <a:p>
            <a:pPr>
              <a:spcAft>
                <a:spcPts val="200"/>
              </a:spcAft>
            </a:pPr>
            <a:r>
              <a:rPr sz="606" b="1">
                <a:solidFill>
                  <a:srgbClr val="B51F24"/>
                </a:solidFill>
                <a:latin typeface="Arial"/>
              </a:rPr>
              <a:t>[9] </a:t>
            </a:r>
            <a:r>
              <a:rPr sz="606" b="0">
                <a:solidFill>
                  <a:srgbClr val="262626"/>
                </a:solidFill>
                <a:latin typeface="Arial"/>
              </a:rPr>
              <a:t>Z. Wen et al., “PolyInterview: An LLM-based platform for immersive mock interview practice with comprehensive multimodal assessment,” arXiv:2607.10310, 2026.</a:t>
            </a:r>
          </a:p>
          <a:p>
            <a:pPr>
              <a:spcAft>
                <a:spcPts val="200"/>
              </a:spcAft>
            </a:pPr>
            <a:r>
              <a:rPr sz="606" b="1">
                <a:solidFill>
                  <a:srgbClr val="B51F24"/>
                </a:solidFill>
                <a:latin typeface="Arial"/>
              </a:rPr>
              <a:t>[10] </a:t>
            </a:r>
            <a:r>
              <a:rPr sz="606" b="0">
                <a:solidFill>
                  <a:srgbClr val="262626"/>
                </a:solidFill>
                <a:latin typeface="Arial"/>
              </a:rPr>
              <a:t>S. Reddy et al., “Latent skill embedding for personalized lesson sequence recommendation,” ACM KDD, 2016.</a:t>
            </a:r>
          </a:p>
          <a:p>
            <a:pPr>
              <a:spcAft>
                <a:spcPts val="200"/>
              </a:spcAft>
            </a:pPr>
            <a:r>
              <a:rPr sz="606" b="1">
                <a:solidFill>
                  <a:srgbClr val="B51F24"/>
                </a:solidFill>
                <a:latin typeface="Arial"/>
              </a:rPr>
              <a:t>[11] </a:t>
            </a:r>
            <a:r>
              <a:rPr sz="606" b="0">
                <a:solidFill>
                  <a:srgbClr val="262626"/>
                </a:solidFill>
                <a:latin typeface="Arial"/>
              </a:rPr>
              <a:t>A. T. Corbett and J. R. Anderson, “Knowledge tracing: Modeling the acquisition of procedural knowledge,” UMUAI, 1994.</a:t>
            </a:r>
          </a:p>
          <a:p>
            <a:pPr>
              <a:spcAft>
                <a:spcPts val="200"/>
              </a:spcAft>
            </a:pPr>
            <a:r>
              <a:rPr sz="606" b="1">
                <a:solidFill>
                  <a:srgbClr val="B51F24"/>
                </a:solidFill>
                <a:latin typeface="Arial"/>
              </a:rPr>
              <a:t>[12] </a:t>
            </a:r>
            <a:r>
              <a:rPr sz="606" b="0">
                <a:solidFill>
                  <a:srgbClr val="262626"/>
                </a:solidFill>
                <a:latin typeface="Arial"/>
              </a:rPr>
              <a:t>B. Lin et al., “Contextual bandit with adaptive feature extraction,” arXiv:1802.00981, 2018.</a:t>
            </a:r>
          </a:p>
        </p:txBody>
      </p:sp>
      <p:graphicFrame>
        <p:nvGraphicFramePr>
          <p:cNvPr id="155" name="Table 154"/>
          <p:cNvGraphicFramePr>
            <a:graphicFrameLocks noGrp="1"/>
          </p:cNvGraphicFramePr>
          <p:nvPr/>
        </p:nvGraphicFramePr>
        <p:xfrm>
          <a:off x="637920" y="8236800"/>
          <a:ext cx="4470840" cy="1603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3657600"/>
                <a:gridCol w="3008376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b="1" sz="693">
                          <a:solidFill>
                            <a:srgbClr val="FFFFFF"/>
                          </a:solidFill>
                          <a:latin typeface="Arial"/>
                        </a:rPr>
                        <a:t>Research Papers</a:t>
                      </a:r>
                    </a:p>
                  </a:txBody>
                  <a:tcPr marL="91440" marR="91440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B4B6"/>
                      </a:solidFill>
                    </a:lnB>
                    <a:solidFill>
                      <a:srgbClr val="B51F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693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91440" marR="91440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B4B6"/>
                      </a:solidFill>
                    </a:lnB>
                    <a:solidFill>
                      <a:srgbClr val="B51F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693">
                          <a:solidFill>
                            <a:srgbClr val="FFFFFF"/>
                          </a:solidFill>
                          <a:latin typeface="Arial"/>
                        </a:rPr>
                        <a:t>Limitation</a:t>
                      </a:r>
                    </a:p>
                  </a:txBody>
                  <a:tcPr marL="91440" marR="91440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B4B6"/>
                      </a:solidFill>
                    </a:lnB>
                    <a:solidFill>
                      <a:srgbClr val="B51F24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b="1" sz="650">
                          <a:solidFill>
                            <a:srgbClr val="B51F24"/>
                          </a:solidFill>
                          <a:latin typeface="Arial"/>
                        </a:rPr>
                        <a:t>MACH [1], TARDIS [2]</a:t>
                      </a:r>
                    </a:p>
                  </a:txBody>
                  <a:tcPr marL="91440" marR="91440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B4B6"/>
                      </a:solidFill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650">
                          <a:solidFill>
                            <a:srgbClr val="262626"/>
                          </a:solidFill>
                          <a:latin typeface="Arial"/>
                        </a:rPr>
                        <a:t>Conversational interview coaching</a:t>
                      </a:r>
                    </a:p>
                  </a:txBody>
                  <a:tcPr marL="91440" marR="91440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B4B6"/>
                      </a:solidFill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650">
                          <a:solidFill>
                            <a:srgbClr val="262626"/>
                          </a:solidFill>
                          <a:latin typeface="Arial"/>
                        </a:rPr>
                        <a:t>Focus on conversational skills</a:t>
                      </a:r>
                    </a:p>
                  </a:txBody>
                  <a:tcPr marL="91440" marR="91440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B4B6"/>
                      </a:solidFill>
                    </a:lnB>
                    <a:solidFill>
                      <a:srgbClr val="FBECE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b="1" sz="650">
                          <a:solidFill>
                            <a:srgbClr val="B51F24"/>
                          </a:solidFill>
                          <a:latin typeface="Arial"/>
                        </a:rPr>
                        <a:t>ERICA [3], EZInterviewer [4]</a:t>
                      </a:r>
                    </a:p>
                  </a:txBody>
                  <a:tcPr marL="91440" marR="91440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B4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650">
                          <a:solidFill>
                            <a:srgbClr val="262626"/>
                          </a:solidFill>
                          <a:latin typeface="Arial"/>
                        </a:rPr>
                        <a:t>Automated mock interviews and follow-ups</a:t>
                      </a:r>
                    </a:p>
                  </a:txBody>
                  <a:tcPr marL="91440" marR="91440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B4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650">
                          <a:solidFill>
                            <a:srgbClr val="262626"/>
                          </a:solidFill>
                          <a:latin typeface="Arial"/>
                        </a:rPr>
                        <a:t>Focus on interview simulation</a:t>
                      </a:r>
                    </a:p>
                  </a:txBody>
                  <a:tcPr marL="91440" marR="91440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B4B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b="1" sz="650">
                          <a:solidFill>
                            <a:srgbClr val="B51F24"/>
                          </a:solidFill>
                          <a:latin typeface="Arial"/>
                        </a:rPr>
                        <a:t>MockLLM [5], Conversate [6]</a:t>
                      </a:r>
                    </a:p>
                  </a:txBody>
                  <a:tcPr marL="91440" marR="91440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B4B6"/>
                      </a:solidFill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650">
                          <a:solidFill>
                            <a:srgbClr val="262626"/>
                          </a:solidFill>
                          <a:latin typeface="Arial"/>
                        </a:rPr>
                        <a:t>Multi-agent practice and feedback</a:t>
                      </a:r>
                    </a:p>
                  </a:txBody>
                  <a:tcPr marL="91440" marR="91440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B4B6"/>
                      </a:solidFill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650">
                          <a:solidFill>
                            <a:srgbClr val="262626"/>
                          </a:solidFill>
                          <a:latin typeface="Arial"/>
                        </a:rPr>
                        <a:t>Focus on interactive practice</a:t>
                      </a:r>
                    </a:p>
                  </a:txBody>
                  <a:tcPr marL="91440" marR="91440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B4B6"/>
                      </a:solidFill>
                    </a:lnB>
                    <a:solidFill>
                      <a:srgbClr val="FBECE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b="1" sz="650">
                          <a:solidFill>
                            <a:srgbClr val="B51F24"/>
                          </a:solidFill>
                          <a:latin typeface="Arial"/>
                        </a:rPr>
                        <a:t>Naim et al. [7], HireNet [8], PolyInterview [9]</a:t>
                      </a:r>
                    </a:p>
                  </a:txBody>
                  <a:tcPr marL="91440" marR="91440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B4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650">
                          <a:solidFill>
                            <a:srgbClr val="262626"/>
                          </a:solidFill>
                          <a:latin typeface="Arial"/>
                        </a:rPr>
                        <a:t>Automated interview assessment</a:t>
                      </a:r>
                    </a:p>
                  </a:txBody>
                  <a:tcPr marL="91440" marR="91440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B4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650">
                          <a:solidFill>
                            <a:srgbClr val="262626"/>
                          </a:solidFill>
                          <a:latin typeface="Arial"/>
                        </a:rPr>
                        <a:t>Focus on performance evaluation</a:t>
                      </a:r>
                    </a:p>
                  </a:txBody>
                  <a:tcPr marL="91440" marR="91440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B4B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b="1" sz="650">
                          <a:solidFill>
                            <a:srgbClr val="B51F24"/>
                          </a:solidFill>
                          <a:latin typeface="Arial"/>
                        </a:rPr>
                        <a:t>Knowledge Tracing [11], Contextual Bandits [12]</a:t>
                      </a:r>
                    </a:p>
                  </a:txBody>
                  <a:tcPr marL="91440" marR="91440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B4B6"/>
                      </a:solidFill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650">
                          <a:solidFill>
                            <a:srgbClr val="262626"/>
                          </a:solidFill>
                          <a:latin typeface="Arial"/>
                        </a:rPr>
                        <a:t>Learner modelling and adaptive learning</a:t>
                      </a:r>
                    </a:p>
                  </a:txBody>
                  <a:tcPr marL="91440" marR="91440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B4B6"/>
                      </a:solidFill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650">
                          <a:solidFill>
                            <a:srgbClr val="262626"/>
                          </a:solidFill>
                          <a:latin typeface="Arial"/>
                        </a:rPr>
                        <a:t>General learning approaches</a:t>
                      </a:r>
                    </a:p>
                  </a:txBody>
                  <a:tcPr marL="91440" marR="91440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B4B6"/>
                      </a:solidFill>
                    </a:lnB>
                    <a:solidFill>
                      <a:srgbClr val="FBECEC"/>
                    </a:solidFill>
                  </a:tcPr>
                </a:tc>
              </a:tr>
            </a:tbl>
          </a:graphicData>
        </a:graphic>
      </p:graphicFrame>
      <p:sp>
        <p:nvSpPr>
          <p:cNvPr id="156" name="Rounded Rectangle 155"/>
          <p:cNvSpPr/>
          <p:nvPr/>
        </p:nvSpPr>
        <p:spPr>
          <a:xfrm>
            <a:off x="637920" y="9919800"/>
            <a:ext cx="4470840" cy="534600"/>
          </a:xfrm>
          <a:prstGeom prst="roundRect">
            <a:avLst>
              <a:gd name="adj" fmla="val 10000"/>
            </a:avLst>
          </a:prstGeom>
          <a:solidFill>
            <a:srgbClr val="FBECEC"/>
          </a:solidFill>
          <a:ln w="15875">
            <a:solidFill>
              <a:srgbClr val="C9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b="1" sz="780">
                <a:solidFill>
                  <a:srgbClr val="B51F24"/>
                </a:solidFill>
                <a:latin typeface="Arial"/>
              </a:rPr>
              <a:t>Research Gap: </a:t>
            </a:r>
            <a:r>
              <a:rPr b="0" sz="780">
                <a:solidFill>
                  <a:srgbClr val="262626"/>
                </a:solidFill>
                <a:latin typeface="Arial"/>
              </a:rPr>
              <a:t>Existing approaches address interview simulation, assessment and adaptive learning separately. INTERVISTA integrates performance diagnosis, targeted resources and repeated practice into one framework.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011240" y="2455200"/>
            <a:ext cx="4470840" cy="831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285750" indent="-285750">
              <a:spcAft>
                <a:spcPts val="500"/>
              </a:spcAft>
              <a:buClr>
                <a:srgbClr val="B51F24"/>
              </a:buClr>
              <a:buFont typeface="Arial"/>
              <a:buChar char="•"/>
            </a:pPr>
            <a:r>
              <a:rPr b="1" sz="866">
                <a:solidFill>
                  <a:srgbClr val="B51F24"/>
                </a:solidFill>
                <a:latin typeface="Arial"/>
              </a:rPr>
              <a:t>Score gain: </a:t>
            </a:r>
            <a:r>
              <a:rPr b="0" sz="866">
                <a:solidFill>
                  <a:srgbClr val="262626"/>
                </a:solidFill>
                <a:latin typeface="Arial"/>
              </a:rPr>
              <a:t>+17.6% on average (Frontend 21.8%, Backend 20.7%, Data Analyst 10.4%).</a:t>
            </a:r>
          </a:p>
          <a:p>
            <a:pPr marL="285750" indent="-285750">
              <a:spcAft>
                <a:spcPts val="500"/>
              </a:spcAft>
              <a:buClr>
                <a:srgbClr val="B51F24"/>
              </a:buClr>
              <a:buFont typeface="Arial"/>
              <a:buChar char="•"/>
            </a:pPr>
            <a:r>
              <a:rPr b="1" sz="866">
                <a:solidFill>
                  <a:srgbClr val="B51F24"/>
                </a:solidFill>
                <a:latin typeface="Arial"/>
              </a:rPr>
              <a:t>Adaptive behaviour: </a:t>
            </a:r>
            <a:r>
              <a:rPr b="0" sz="866">
                <a:solidFill>
                  <a:srgbClr val="262626"/>
                </a:solidFill>
                <a:latin typeface="Arial"/>
              </a:rPr>
              <a:t>81.6% of follow-ups grounded in answers; 95.2% of retries targeted past weaknesses.</a:t>
            </a:r>
          </a:p>
          <a:p>
            <a:pPr marL="285750" indent="-285750">
              <a:spcAft>
                <a:spcPts val="500"/>
              </a:spcAft>
              <a:buClr>
                <a:srgbClr val="B51F24"/>
              </a:buClr>
              <a:buFont typeface="Arial"/>
              <a:buChar char="•"/>
            </a:pPr>
            <a:r>
              <a:rPr b="1" sz="866">
                <a:solidFill>
                  <a:srgbClr val="B51F24"/>
                </a:solidFill>
                <a:latin typeface="Arial"/>
              </a:rPr>
              <a:t>Resources: </a:t>
            </a:r>
            <a:r>
              <a:rPr b="0" sz="866">
                <a:solidFill>
                  <a:srgbClr val="262626"/>
                </a:solidFill>
                <a:latin typeface="Arial"/>
              </a:rPr>
              <a:t>76.6% matched the identified weaknesses.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0011240" y="4870800"/>
            <a:ext cx="4470840" cy="1366200"/>
          </a:xfrm>
          <a:prstGeom prst="rect">
            <a:avLst/>
          </a:prstGeom>
          <a:solidFill>
            <a:srgbClr val="FFFFFF"/>
          </a:solidFill>
          <a:ln w="15875">
            <a:solidFill>
              <a:srgbClr val="7878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693">
                <a:solidFill>
                  <a:srgbClr val="787878"/>
                </a:solidFill>
                <a:latin typeface="Arial"/>
              </a:rPr>
              <a:t>SCREENSHOT</a:t>
            </a:r>
          </a:p>
          <a:p>
            <a:pPr algn="ctr"/>
            <a:r>
              <a:rPr b="1" sz="953">
                <a:solidFill>
                  <a:srgbClr val="262626"/>
                </a:solidFill>
                <a:latin typeface="Arial"/>
              </a:rPr>
              <a:t>Evaluation report / results screen</a:t>
            </a:r>
          </a:p>
          <a:p>
            <a:pPr algn="ctr"/>
            <a:r>
              <a:rPr b="0" sz="693">
                <a:solidFill>
                  <a:srgbClr val="787878"/>
                </a:solidFill>
                <a:latin typeface="Arial"/>
              </a:rPr>
              <a:t>score, strengths, weaknesses, areas to improve</a:t>
            </a:r>
          </a:p>
          <a:p>
            <a:pPr algn="ctr"/>
            <a:r>
              <a:rPr b="0" sz="650">
                <a:solidFill>
                  <a:srgbClr val="787878"/>
                </a:solidFill>
                <a:latin typeface="Arial"/>
              </a:rPr>
              <a:t>Replace with your image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</TotalTime>
  <Words>1032</Words>
  <Application>Microsoft Office PowerPoint</Application>
  <PresentationFormat>Custom</PresentationFormat>
  <Paragraphs>136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dc:description>generated using python-pptx</dc:description>
  <cp:lastModifiedBy>DELL</cp:lastModifiedBy>
  <cp:revision>19</cp:revision>
  <dcterms:created xsi:type="dcterms:W3CDTF">2013-01-27T09:14:00Z</dcterms:created>
  <dcterms:modified xsi:type="dcterms:W3CDTF">2026-10-14T06:59:15Z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3D0AA33115AC40088CA350DE6FA4EF51_12</vt:lpwstr>
  </property>
</Properties>
</file>